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32" r:id="rId2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874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>
                <a:latin typeface="Calibri"/>
                <a:cs typeface="Calibri"/>
              </a:rPr>
              <a:t>SecureGPT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>
                <a:latin typeface="Calibri"/>
                <a:cs typeface="Calibri"/>
              </a:rPr>
              <a:t>SecureGPT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>
                <a:latin typeface="Calibri"/>
                <a:cs typeface="Calibri"/>
              </a:rPr>
              <a:t>SecureGPT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>
                <a:latin typeface="Calibri"/>
                <a:cs typeface="Calibri"/>
              </a:rPr>
              <a:t>SecureGPT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>
                <a:latin typeface="Calibri"/>
                <a:cs typeface="Calibri"/>
              </a:rPr>
              <a:t>SecureGPT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401827"/>
            <a:ext cx="503047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9217" y="2245867"/>
            <a:ext cx="5419090" cy="2924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16939" y="6428920"/>
            <a:ext cx="854710" cy="2207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>
                <a:latin typeface="Calibri"/>
                <a:cs typeface="Calibri"/>
              </a:rPr>
              <a:t>SecureGPT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7415" y="6428920"/>
            <a:ext cx="2444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874084"/>
            <a:ext cx="8995411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7200" spc="425" dirty="0">
                <a:latin typeface="Verdana"/>
                <a:cs typeface="Verdana"/>
              </a:rPr>
              <a:t>Enhance</a:t>
            </a:r>
            <a:r>
              <a:rPr lang="en-US" sz="7200" spc="-260" dirty="0">
                <a:latin typeface="Verdana"/>
                <a:cs typeface="Verdana"/>
              </a:rPr>
              <a:t> </a:t>
            </a:r>
            <a:r>
              <a:rPr lang="en-US" sz="7200" spc="484" dirty="0">
                <a:latin typeface="Verdana"/>
                <a:cs typeface="Verdana"/>
              </a:rPr>
              <a:t>Dataset</a:t>
            </a:r>
            <a:r>
              <a:rPr lang="en-US" sz="7200" spc="-254" dirty="0">
                <a:latin typeface="Verdana"/>
                <a:cs typeface="Verdana"/>
              </a:rPr>
              <a:t> </a:t>
            </a:r>
            <a:r>
              <a:rPr lang="en-US" sz="7200" spc="295" dirty="0">
                <a:latin typeface="Verdana"/>
                <a:cs typeface="Verdana"/>
              </a:rPr>
              <a:t>labeling</a:t>
            </a:r>
            <a:r>
              <a:rPr lang="en-US" sz="7200" spc="-270" dirty="0">
                <a:latin typeface="Verdana"/>
                <a:cs typeface="Verdana"/>
              </a:rPr>
              <a:t> </a:t>
            </a:r>
            <a:r>
              <a:rPr lang="en-US" sz="7200" spc="459" dirty="0">
                <a:latin typeface="Verdana"/>
                <a:cs typeface="Verdana"/>
              </a:rPr>
              <a:t>Model</a:t>
            </a:r>
            <a:endParaRPr lang="en-US" sz="72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343400"/>
            <a:ext cx="8321040" cy="0"/>
          </a:xfrm>
          <a:custGeom>
            <a:avLst/>
            <a:gdLst/>
            <a:ahLst/>
            <a:cxnLst/>
            <a:rect l="l" t="t" r="r" b="b"/>
            <a:pathLst>
              <a:path w="8321040">
                <a:moveTo>
                  <a:pt x="0" y="0"/>
                </a:moveTo>
                <a:lnTo>
                  <a:pt x="8321040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395" dirty="0"/>
              <a:t> </a:t>
            </a:r>
            <a:r>
              <a:rPr spc="-10" dirty="0"/>
              <a:t>Journey</a:t>
            </a:r>
          </a:p>
        </p:txBody>
      </p:sp>
      <p:sp>
        <p:nvSpPr>
          <p:cNvPr id="3" name="object 3"/>
          <p:cNvSpPr/>
          <p:nvPr/>
        </p:nvSpPr>
        <p:spPr>
          <a:xfrm>
            <a:off x="152398" y="1153787"/>
            <a:ext cx="8321040" cy="0"/>
          </a:xfrm>
          <a:custGeom>
            <a:avLst/>
            <a:gdLst/>
            <a:ahLst/>
            <a:cxnLst/>
            <a:rect l="l" t="t" r="r" b="b"/>
            <a:pathLst>
              <a:path w="8321040">
                <a:moveTo>
                  <a:pt x="0" y="0"/>
                </a:moveTo>
                <a:lnTo>
                  <a:pt x="8321040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3538" y="1314196"/>
            <a:ext cx="10935970" cy="2170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425" dirty="0">
                <a:latin typeface="Verdana"/>
                <a:cs typeface="Verdana"/>
              </a:rPr>
              <a:t>Enhance</a:t>
            </a:r>
            <a:r>
              <a:rPr sz="2800" spc="-260" dirty="0">
                <a:latin typeface="Verdana"/>
                <a:cs typeface="Verdana"/>
              </a:rPr>
              <a:t> </a:t>
            </a:r>
            <a:r>
              <a:rPr sz="2800" spc="484" dirty="0">
                <a:latin typeface="Verdana"/>
                <a:cs typeface="Verdana"/>
              </a:rPr>
              <a:t>Dataset</a:t>
            </a:r>
            <a:r>
              <a:rPr sz="2800" spc="-254" dirty="0">
                <a:latin typeface="Verdana"/>
                <a:cs typeface="Verdana"/>
              </a:rPr>
              <a:t> </a:t>
            </a:r>
            <a:r>
              <a:rPr sz="2800" spc="295" dirty="0">
                <a:latin typeface="Verdana"/>
                <a:cs typeface="Verdana"/>
              </a:rPr>
              <a:t>labeling</a:t>
            </a:r>
            <a:r>
              <a:rPr sz="2800" spc="-270" dirty="0">
                <a:latin typeface="Verdana"/>
                <a:cs typeface="Verdana"/>
              </a:rPr>
              <a:t> </a:t>
            </a:r>
            <a:r>
              <a:rPr sz="2800" spc="459" dirty="0">
                <a:latin typeface="Verdana"/>
                <a:cs typeface="Verdana"/>
              </a:rPr>
              <a:t>Model</a:t>
            </a:r>
            <a:endParaRPr sz="2800" dirty="0">
              <a:latin typeface="Verdana"/>
              <a:cs typeface="Verdana"/>
            </a:endParaRPr>
          </a:p>
          <a:p>
            <a:pPr marL="697230" marR="5080" lvl="1" indent="-227329">
              <a:lnSpc>
                <a:spcPct val="146500"/>
              </a:lnSpc>
              <a:spcBef>
                <a:spcPts val="69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improve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accuracy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reliability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vulnerability 	</a:t>
            </a:r>
            <a:r>
              <a:rPr sz="2400" dirty="0">
                <a:latin typeface="Courier New"/>
                <a:cs typeface="Courier New"/>
              </a:rPr>
              <a:t>detection,</a:t>
            </a:r>
            <a:r>
              <a:rPr sz="2400" spc="-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our</a:t>
            </a:r>
            <a:r>
              <a:rPr sz="2400" spc="-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enhanced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500" i="1" spc="-40" dirty="0">
                <a:latin typeface="Courier New"/>
                <a:cs typeface="Courier New"/>
              </a:rPr>
              <a:t>labelling</a:t>
            </a:r>
            <a:r>
              <a:rPr sz="2500" i="1" spc="-1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model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integrates</a:t>
            </a:r>
            <a:r>
              <a:rPr sz="2400" spc="-7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AI- 	</a:t>
            </a:r>
            <a:r>
              <a:rPr sz="2400" dirty="0">
                <a:latin typeface="Courier New"/>
                <a:cs typeface="Courier New"/>
              </a:rPr>
              <a:t>driven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automation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with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advanced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validation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techniques.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395" dirty="0"/>
              <a:t> </a:t>
            </a:r>
            <a:r>
              <a:rPr spc="-10" dirty="0"/>
              <a:t>Journey</a:t>
            </a:r>
          </a:p>
        </p:txBody>
      </p:sp>
      <p:sp>
        <p:nvSpPr>
          <p:cNvPr id="3" name="object 3"/>
          <p:cNvSpPr/>
          <p:nvPr/>
        </p:nvSpPr>
        <p:spPr>
          <a:xfrm>
            <a:off x="152398" y="1153787"/>
            <a:ext cx="8321040" cy="0"/>
          </a:xfrm>
          <a:custGeom>
            <a:avLst/>
            <a:gdLst/>
            <a:ahLst/>
            <a:cxnLst/>
            <a:rect l="l" t="t" r="r" b="b"/>
            <a:pathLst>
              <a:path w="8321040">
                <a:moveTo>
                  <a:pt x="0" y="0"/>
                </a:moveTo>
                <a:lnTo>
                  <a:pt x="8321040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3538" y="1314196"/>
            <a:ext cx="7303770" cy="317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425" dirty="0">
                <a:latin typeface="Verdana"/>
                <a:cs typeface="Verdana"/>
              </a:rPr>
              <a:t>Enhance</a:t>
            </a:r>
            <a:r>
              <a:rPr sz="2800" spc="-260" dirty="0">
                <a:latin typeface="Verdana"/>
                <a:cs typeface="Verdana"/>
              </a:rPr>
              <a:t> </a:t>
            </a:r>
            <a:r>
              <a:rPr sz="2800" spc="484" dirty="0">
                <a:latin typeface="Verdana"/>
                <a:cs typeface="Verdana"/>
              </a:rPr>
              <a:t>Dataset</a:t>
            </a:r>
            <a:r>
              <a:rPr sz="2800" spc="-254" dirty="0">
                <a:latin typeface="Verdana"/>
                <a:cs typeface="Verdana"/>
              </a:rPr>
              <a:t> </a:t>
            </a:r>
            <a:r>
              <a:rPr sz="2800" spc="295" dirty="0">
                <a:latin typeface="Verdana"/>
                <a:cs typeface="Verdana"/>
              </a:rPr>
              <a:t>labeling</a:t>
            </a:r>
            <a:r>
              <a:rPr sz="2800" spc="-270" dirty="0">
                <a:latin typeface="Verdana"/>
                <a:cs typeface="Verdana"/>
              </a:rPr>
              <a:t> </a:t>
            </a:r>
            <a:r>
              <a:rPr sz="2800" spc="459" dirty="0">
                <a:latin typeface="Verdana"/>
                <a:cs typeface="Verdana"/>
              </a:rPr>
              <a:t>Model</a:t>
            </a:r>
            <a:endParaRPr sz="2800">
              <a:latin typeface="Verdana"/>
              <a:cs typeface="Verdana"/>
            </a:endParaRPr>
          </a:p>
          <a:p>
            <a:pPr marL="697230" lvl="1" indent="-227329">
              <a:lnSpc>
                <a:spcPct val="100000"/>
              </a:lnSpc>
              <a:spcBef>
                <a:spcPts val="203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ourier New"/>
                <a:cs typeface="Courier New"/>
              </a:rPr>
              <a:t>Key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Enhancements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Model:</a:t>
            </a:r>
            <a:endParaRPr sz="2400">
              <a:latin typeface="Courier New"/>
              <a:cs typeface="Courier New"/>
            </a:endParaRPr>
          </a:p>
          <a:p>
            <a:pPr marL="1155065" lvl="2" indent="-228600">
              <a:lnSpc>
                <a:spcPct val="100000"/>
              </a:lnSpc>
              <a:spcBef>
                <a:spcPts val="1814"/>
              </a:spcBef>
              <a:buFont typeface="Arial MT"/>
              <a:buChar char="•"/>
              <a:tabLst>
                <a:tab pos="1155065" algn="l"/>
              </a:tabLst>
            </a:pPr>
            <a:r>
              <a:rPr sz="2000" spc="-10" dirty="0">
                <a:latin typeface="Courier New"/>
                <a:cs typeface="Courier New"/>
              </a:rPr>
              <a:t>AI-</a:t>
            </a:r>
            <a:r>
              <a:rPr sz="2000" dirty="0">
                <a:latin typeface="Courier New"/>
                <a:cs typeface="Courier New"/>
              </a:rPr>
              <a:t>Powered </a:t>
            </a:r>
            <a:r>
              <a:rPr sz="2000" spc="-10" dirty="0">
                <a:latin typeface="Courier New"/>
                <a:cs typeface="Courier New"/>
              </a:rPr>
              <a:t>Pre-Labeling</a:t>
            </a:r>
            <a:endParaRPr sz="2000">
              <a:latin typeface="Courier New"/>
              <a:cs typeface="Courier New"/>
            </a:endParaRPr>
          </a:p>
          <a:p>
            <a:pPr marL="1155065" lvl="2" indent="-228600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1155065" algn="l"/>
              </a:tabLst>
            </a:pPr>
            <a:r>
              <a:rPr sz="2000" dirty="0">
                <a:latin typeface="Courier New"/>
                <a:cs typeface="Courier New"/>
              </a:rPr>
              <a:t>Automated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Validation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&amp;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Correction</a:t>
            </a:r>
            <a:endParaRPr sz="2000">
              <a:latin typeface="Courier New"/>
              <a:cs typeface="Courier New"/>
            </a:endParaRPr>
          </a:p>
          <a:p>
            <a:pPr marL="1155065" lvl="2" indent="-228600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1155065" algn="l"/>
              </a:tabLst>
            </a:pPr>
            <a:r>
              <a:rPr sz="2000" dirty="0">
                <a:latin typeface="Courier New"/>
                <a:cs typeface="Courier New"/>
              </a:rPr>
              <a:t>Metadata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Enrichment</a:t>
            </a:r>
            <a:endParaRPr sz="2000">
              <a:latin typeface="Courier New"/>
              <a:cs typeface="Courier New"/>
            </a:endParaRPr>
          </a:p>
          <a:p>
            <a:pPr marL="1155065" lvl="2" indent="-228600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1155065" algn="l"/>
              </a:tabLst>
            </a:pPr>
            <a:r>
              <a:rPr sz="2000" dirty="0">
                <a:latin typeface="Courier New"/>
                <a:cs typeface="Courier New"/>
              </a:rPr>
              <a:t>Synthetic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Data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Generation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395" dirty="0"/>
              <a:t> </a:t>
            </a:r>
            <a:r>
              <a:rPr spc="-10" dirty="0"/>
              <a:t>Journey</a:t>
            </a:r>
          </a:p>
        </p:txBody>
      </p:sp>
      <p:sp>
        <p:nvSpPr>
          <p:cNvPr id="3" name="object 3"/>
          <p:cNvSpPr/>
          <p:nvPr/>
        </p:nvSpPr>
        <p:spPr>
          <a:xfrm>
            <a:off x="152398" y="1153787"/>
            <a:ext cx="8321040" cy="0"/>
          </a:xfrm>
          <a:custGeom>
            <a:avLst/>
            <a:gdLst/>
            <a:ahLst/>
            <a:cxnLst/>
            <a:rect l="l" t="t" r="r" b="b"/>
            <a:pathLst>
              <a:path w="8321040">
                <a:moveTo>
                  <a:pt x="0" y="0"/>
                </a:moveTo>
                <a:lnTo>
                  <a:pt x="8321040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302857" y="3746228"/>
            <a:ext cx="3274060" cy="1526540"/>
            <a:chOff x="4302857" y="3746228"/>
            <a:chExt cx="3274060" cy="1526540"/>
          </a:xfrm>
        </p:grpSpPr>
        <p:sp>
          <p:nvSpPr>
            <p:cNvPr id="6" name="object 6"/>
            <p:cNvSpPr/>
            <p:nvPr/>
          </p:nvSpPr>
          <p:spPr>
            <a:xfrm>
              <a:off x="5141749" y="4075718"/>
              <a:ext cx="1624965" cy="193675"/>
            </a:xfrm>
            <a:custGeom>
              <a:avLst/>
              <a:gdLst/>
              <a:ahLst/>
              <a:cxnLst/>
              <a:rect l="l" t="t" r="r" b="b"/>
              <a:pathLst>
                <a:path w="1624965" h="193675">
                  <a:moveTo>
                    <a:pt x="1624475" y="0"/>
                  </a:moveTo>
                  <a:lnTo>
                    <a:pt x="1624475" y="125937"/>
                  </a:lnTo>
                  <a:lnTo>
                    <a:pt x="1618398" y="152115"/>
                  </a:lnTo>
                  <a:lnTo>
                    <a:pt x="1601827" y="173494"/>
                  </a:lnTo>
                  <a:lnTo>
                    <a:pt x="1577247" y="187911"/>
                  </a:lnTo>
                  <a:lnTo>
                    <a:pt x="1547146" y="193204"/>
                  </a:lnTo>
                  <a:lnTo>
                    <a:pt x="937940" y="193392"/>
                  </a:lnTo>
                </a:path>
                <a:path w="1624965" h="193675">
                  <a:moveTo>
                    <a:pt x="696203" y="193606"/>
                  </a:moveTo>
                  <a:lnTo>
                    <a:pt x="77355" y="193605"/>
                  </a:lnTo>
                  <a:lnTo>
                    <a:pt x="22656" y="173903"/>
                  </a:lnTo>
                  <a:lnTo>
                    <a:pt x="0" y="126338"/>
                  </a:lnTo>
                  <a:lnTo>
                    <a:pt x="0" y="0"/>
                  </a:lnTo>
                </a:path>
              </a:pathLst>
            </a:custGeom>
            <a:ln w="14287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25278" y="4162947"/>
              <a:ext cx="229426" cy="228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8134" y="4155804"/>
              <a:ext cx="243714" cy="2428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26129" y="4366079"/>
              <a:ext cx="855714" cy="76541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83511" y="5131549"/>
              <a:ext cx="1140951" cy="13374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526129" y="4366079"/>
              <a:ext cx="855980" cy="765810"/>
            </a:xfrm>
            <a:custGeom>
              <a:avLst/>
              <a:gdLst/>
              <a:ahLst/>
              <a:cxnLst/>
              <a:rect l="l" t="t" r="r" b="b"/>
              <a:pathLst>
                <a:path w="855979" h="765810">
                  <a:moveTo>
                    <a:pt x="333632" y="0"/>
                  </a:moveTo>
                  <a:lnTo>
                    <a:pt x="354435" y="14309"/>
                  </a:lnTo>
                  <a:lnTo>
                    <a:pt x="377252" y="24781"/>
                  </a:lnTo>
                  <a:lnTo>
                    <a:pt x="401943" y="31212"/>
                  </a:lnTo>
                  <a:lnTo>
                    <a:pt x="428369" y="33401"/>
                  </a:lnTo>
                  <a:lnTo>
                    <a:pt x="454529" y="31252"/>
                  </a:lnTo>
                  <a:lnTo>
                    <a:pt x="478958" y="24940"/>
                  </a:lnTo>
                  <a:lnTo>
                    <a:pt x="501611" y="14671"/>
                  </a:lnTo>
                  <a:lnTo>
                    <a:pt x="522444" y="648"/>
                  </a:lnTo>
                  <a:lnTo>
                    <a:pt x="614795" y="205289"/>
                  </a:lnTo>
                  <a:lnTo>
                    <a:pt x="724881" y="458718"/>
                  </a:lnTo>
                  <a:lnTo>
                    <a:pt x="817066" y="674304"/>
                  </a:lnTo>
                  <a:lnTo>
                    <a:pt x="855714" y="765417"/>
                  </a:lnTo>
                  <a:lnTo>
                    <a:pt x="0" y="765417"/>
                  </a:lnTo>
                  <a:lnTo>
                    <a:pt x="38717" y="674212"/>
                  </a:lnTo>
                  <a:lnTo>
                    <a:pt x="131050" y="458420"/>
                  </a:lnTo>
                  <a:lnTo>
                    <a:pt x="241265" y="204772"/>
                  </a:lnTo>
                  <a:lnTo>
                    <a:pt x="333632" y="0"/>
                  </a:lnTo>
                  <a:close/>
                </a:path>
              </a:pathLst>
            </a:custGeom>
            <a:ln w="14287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83510" y="4808325"/>
              <a:ext cx="1141095" cy="457200"/>
            </a:xfrm>
            <a:custGeom>
              <a:avLst/>
              <a:gdLst/>
              <a:ahLst/>
              <a:cxnLst/>
              <a:rect l="l" t="t" r="r" b="b"/>
              <a:pathLst>
                <a:path w="1141095" h="457200">
                  <a:moveTo>
                    <a:pt x="1045873" y="323222"/>
                  </a:moveTo>
                  <a:lnTo>
                    <a:pt x="1082881" y="330229"/>
                  </a:lnTo>
                  <a:lnTo>
                    <a:pt x="1113103" y="349338"/>
                  </a:lnTo>
                  <a:lnTo>
                    <a:pt x="1133480" y="377680"/>
                  </a:lnTo>
                  <a:lnTo>
                    <a:pt x="1140952" y="412387"/>
                  </a:lnTo>
                  <a:lnTo>
                    <a:pt x="1140952" y="434678"/>
                  </a:lnTo>
                  <a:lnTo>
                    <a:pt x="1139083" y="443355"/>
                  </a:lnTo>
                  <a:lnTo>
                    <a:pt x="1133989" y="450441"/>
                  </a:lnTo>
                  <a:lnTo>
                    <a:pt x="1126434" y="455218"/>
                  </a:lnTo>
                  <a:lnTo>
                    <a:pt x="1117182" y="456970"/>
                  </a:lnTo>
                  <a:lnTo>
                    <a:pt x="23769" y="456970"/>
                  </a:lnTo>
                  <a:lnTo>
                    <a:pt x="14517" y="455218"/>
                  </a:lnTo>
                  <a:lnTo>
                    <a:pt x="6961" y="450441"/>
                  </a:lnTo>
                  <a:lnTo>
                    <a:pt x="1867" y="443355"/>
                  </a:lnTo>
                  <a:lnTo>
                    <a:pt x="0" y="434678"/>
                  </a:lnTo>
                  <a:lnTo>
                    <a:pt x="0" y="412386"/>
                  </a:lnTo>
                  <a:lnTo>
                    <a:pt x="7471" y="377679"/>
                  </a:lnTo>
                  <a:lnTo>
                    <a:pt x="27848" y="349337"/>
                  </a:lnTo>
                  <a:lnTo>
                    <a:pt x="58070" y="330229"/>
                  </a:lnTo>
                  <a:lnTo>
                    <a:pt x="95079" y="323222"/>
                  </a:lnTo>
                  <a:lnTo>
                    <a:pt x="1045873" y="323222"/>
                  </a:lnTo>
                  <a:close/>
                </a:path>
                <a:path w="1141095" h="457200">
                  <a:moveTo>
                    <a:pt x="522935" y="245986"/>
                  </a:moveTo>
                  <a:lnTo>
                    <a:pt x="522935" y="144892"/>
                  </a:lnTo>
                  <a:lnTo>
                    <a:pt x="570474" y="100310"/>
                  </a:lnTo>
                  <a:lnTo>
                    <a:pt x="618014" y="144892"/>
                  </a:lnTo>
                  <a:lnTo>
                    <a:pt x="618014" y="245986"/>
                  </a:lnTo>
                  <a:lnTo>
                    <a:pt x="607121" y="240921"/>
                  </a:lnTo>
                  <a:lnTo>
                    <a:pt x="595494" y="237176"/>
                  </a:lnTo>
                  <a:lnTo>
                    <a:pt x="583242" y="234854"/>
                  </a:lnTo>
                  <a:lnTo>
                    <a:pt x="570474" y="234057"/>
                  </a:lnTo>
                  <a:lnTo>
                    <a:pt x="557706" y="234854"/>
                  </a:lnTo>
                  <a:lnTo>
                    <a:pt x="545454" y="237176"/>
                  </a:lnTo>
                  <a:lnTo>
                    <a:pt x="533827" y="240921"/>
                  </a:lnTo>
                  <a:lnTo>
                    <a:pt x="522935" y="245986"/>
                  </a:lnTo>
                  <a:close/>
                </a:path>
                <a:path w="1141095" h="457200">
                  <a:moveTo>
                    <a:pt x="475395" y="323222"/>
                  </a:moveTo>
                  <a:lnTo>
                    <a:pt x="488508" y="278009"/>
                  </a:lnTo>
                  <a:lnTo>
                    <a:pt x="522935" y="245986"/>
                  </a:lnTo>
                  <a:lnTo>
                    <a:pt x="570474" y="234057"/>
                  </a:lnTo>
                  <a:lnTo>
                    <a:pt x="583242" y="234854"/>
                  </a:lnTo>
                  <a:lnTo>
                    <a:pt x="637431" y="259917"/>
                  </a:lnTo>
                  <a:lnTo>
                    <a:pt x="662122" y="299398"/>
                  </a:lnTo>
                  <a:lnTo>
                    <a:pt x="665554" y="323222"/>
                  </a:lnTo>
                  <a:lnTo>
                    <a:pt x="475395" y="323222"/>
                  </a:lnTo>
                  <a:close/>
                </a:path>
                <a:path w="1141095" h="457200">
                  <a:moveTo>
                    <a:pt x="570476" y="0"/>
                  </a:moveTo>
                  <a:lnTo>
                    <a:pt x="570476" y="64644"/>
                  </a:lnTo>
                </a:path>
                <a:path w="1141095" h="457200">
                  <a:moveTo>
                    <a:pt x="814152" y="94703"/>
                  </a:moveTo>
                  <a:lnTo>
                    <a:pt x="765439" y="140386"/>
                  </a:lnTo>
                </a:path>
                <a:path w="1141095" h="457200">
                  <a:moveTo>
                    <a:pt x="375512" y="140386"/>
                  </a:moveTo>
                  <a:lnTo>
                    <a:pt x="326799" y="94703"/>
                  </a:lnTo>
                </a:path>
                <a:path w="1141095" h="457200">
                  <a:moveTo>
                    <a:pt x="650667" y="42233"/>
                  </a:moveTo>
                  <a:lnTo>
                    <a:pt x="641821" y="73371"/>
                  </a:lnTo>
                </a:path>
                <a:path w="1141095" h="457200">
                  <a:moveTo>
                    <a:pt x="415262" y="71323"/>
                  </a:moveTo>
                  <a:lnTo>
                    <a:pt x="432611" y="99336"/>
                  </a:lnTo>
                </a:path>
                <a:path w="1141095" h="457200">
                  <a:moveTo>
                    <a:pt x="725344" y="71216"/>
                  </a:moveTo>
                  <a:lnTo>
                    <a:pt x="708226" y="99120"/>
                  </a:lnTo>
                </a:path>
                <a:path w="1141095" h="457200">
                  <a:moveTo>
                    <a:pt x="489940" y="42341"/>
                  </a:moveTo>
                  <a:lnTo>
                    <a:pt x="498902" y="73479"/>
                  </a:lnTo>
                </a:path>
              </a:pathLst>
            </a:custGeom>
            <a:ln w="14287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96775" y="3753470"/>
              <a:ext cx="1172377" cy="32224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96775" y="3753470"/>
              <a:ext cx="1172845" cy="322580"/>
            </a:xfrm>
            <a:custGeom>
              <a:avLst/>
              <a:gdLst/>
              <a:ahLst/>
              <a:cxnLst/>
              <a:rect l="l" t="t" r="r" b="b"/>
              <a:pathLst>
                <a:path w="1172845" h="322579">
                  <a:moveTo>
                    <a:pt x="0" y="32224"/>
                  </a:moveTo>
                  <a:lnTo>
                    <a:pt x="2303" y="19681"/>
                  </a:lnTo>
                  <a:lnTo>
                    <a:pt x="8584" y="9438"/>
                  </a:lnTo>
                  <a:lnTo>
                    <a:pt x="17900" y="2532"/>
                  </a:lnTo>
                  <a:lnTo>
                    <a:pt x="29309" y="0"/>
                  </a:lnTo>
                  <a:lnTo>
                    <a:pt x="1143068" y="0"/>
                  </a:lnTo>
                  <a:lnTo>
                    <a:pt x="1154475" y="2532"/>
                  </a:lnTo>
                  <a:lnTo>
                    <a:pt x="1163791" y="9438"/>
                  </a:lnTo>
                  <a:lnTo>
                    <a:pt x="1170073" y="19681"/>
                  </a:lnTo>
                  <a:lnTo>
                    <a:pt x="1172377" y="32224"/>
                  </a:lnTo>
                  <a:lnTo>
                    <a:pt x="1168127" y="84355"/>
                  </a:lnTo>
                  <a:lnTo>
                    <a:pt x="1155873" y="133420"/>
                  </a:lnTo>
                  <a:lnTo>
                    <a:pt x="1136362" y="178602"/>
                  </a:lnTo>
                  <a:lnTo>
                    <a:pt x="1110337" y="219079"/>
                  </a:lnTo>
                  <a:lnTo>
                    <a:pt x="1078545" y="254034"/>
                  </a:lnTo>
                  <a:lnTo>
                    <a:pt x="1041729" y="282646"/>
                  </a:lnTo>
                  <a:lnTo>
                    <a:pt x="1000635" y="304098"/>
                  </a:lnTo>
                  <a:lnTo>
                    <a:pt x="956007" y="317570"/>
                  </a:lnTo>
                  <a:lnTo>
                    <a:pt x="908592" y="322243"/>
                  </a:lnTo>
                  <a:lnTo>
                    <a:pt x="263784" y="322243"/>
                  </a:lnTo>
                  <a:lnTo>
                    <a:pt x="216368" y="317570"/>
                  </a:lnTo>
                  <a:lnTo>
                    <a:pt x="171741" y="304098"/>
                  </a:lnTo>
                  <a:lnTo>
                    <a:pt x="130647" y="282646"/>
                  </a:lnTo>
                  <a:lnTo>
                    <a:pt x="93831" y="254034"/>
                  </a:lnTo>
                  <a:lnTo>
                    <a:pt x="62038" y="219079"/>
                  </a:lnTo>
                  <a:lnTo>
                    <a:pt x="36014" y="178602"/>
                  </a:lnTo>
                  <a:lnTo>
                    <a:pt x="16502" y="133420"/>
                  </a:lnTo>
                  <a:lnTo>
                    <a:pt x="4249" y="84355"/>
                  </a:lnTo>
                  <a:lnTo>
                    <a:pt x="0" y="32224"/>
                  </a:lnTo>
                  <a:close/>
                </a:path>
              </a:pathLst>
            </a:custGeom>
            <a:ln w="14287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10001" y="3753371"/>
              <a:ext cx="1172376" cy="37384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310001" y="3753371"/>
              <a:ext cx="1172845" cy="374015"/>
            </a:xfrm>
            <a:custGeom>
              <a:avLst/>
              <a:gdLst/>
              <a:ahLst/>
              <a:cxnLst/>
              <a:rect l="l" t="t" r="r" b="b"/>
              <a:pathLst>
                <a:path w="1172845" h="374014">
                  <a:moveTo>
                    <a:pt x="0" y="37384"/>
                  </a:moveTo>
                  <a:lnTo>
                    <a:pt x="2303" y="22832"/>
                  </a:lnTo>
                  <a:lnTo>
                    <a:pt x="8584" y="10949"/>
                  </a:lnTo>
                  <a:lnTo>
                    <a:pt x="17900" y="2937"/>
                  </a:lnTo>
                  <a:lnTo>
                    <a:pt x="29309" y="0"/>
                  </a:lnTo>
                  <a:lnTo>
                    <a:pt x="1143067" y="0"/>
                  </a:lnTo>
                  <a:lnTo>
                    <a:pt x="1154474" y="2937"/>
                  </a:lnTo>
                  <a:lnTo>
                    <a:pt x="1163790" y="10949"/>
                  </a:lnTo>
                  <a:lnTo>
                    <a:pt x="1170072" y="22832"/>
                  </a:lnTo>
                  <a:lnTo>
                    <a:pt x="1172376" y="37384"/>
                  </a:lnTo>
                  <a:lnTo>
                    <a:pt x="1168923" y="91959"/>
                  </a:lnTo>
                  <a:lnTo>
                    <a:pt x="1158928" y="143730"/>
                  </a:lnTo>
                  <a:lnTo>
                    <a:pt x="1142932" y="192005"/>
                  </a:lnTo>
                  <a:lnTo>
                    <a:pt x="1121480" y="236090"/>
                  </a:lnTo>
                  <a:lnTo>
                    <a:pt x="1095115" y="275294"/>
                  </a:lnTo>
                  <a:lnTo>
                    <a:pt x="1064378" y="308924"/>
                  </a:lnTo>
                  <a:lnTo>
                    <a:pt x="1029815" y="336286"/>
                  </a:lnTo>
                  <a:lnTo>
                    <a:pt x="991967" y="356688"/>
                  </a:lnTo>
                  <a:lnTo>
                    <a:pt x="951378" y="369437"/>
                  </a:lnTo>
                  <a:lnTo>
                    <a:pt x="908591" y="373841"/>
                  </a:lnTo>
                  <a:lnTo>
                    <a:pt x="263784" y="373841"/>
                  </a:lnTo>
                  <a:lnTo>
                    <a:pt x="220997" y="369437"/>
                  </a:lnTo>
                  <a:lnTo>
                    <a:pt x="180407" y="356688"/>
                  </a:lnTo>
                  <a:lnTo>
                    <a:pt x="142559" y="336286"/>
                  </a:lnTo>
                  <a:lnTo>
                    <a:pt x="107996" y="308924"/>
                  </a:lnTo>
                  <a:lnTo>
                    <a:pt x="77260" y="275294"/>
                  </a:lnTo>
                  <a:lnTo>
                    <a:pt x="50894" y="236090"/>
                  </a:lnTo>
                  <a:lnTo>
                    <a:pt x="29442" y="192005"/>
                  </a:lnTo>
                  <a:lnTo>
                    <a:pt x="13447" y="143730"/>
                  </a:lnTo>
                  <a:lnTo>
                    <a:pt x="3452" y="91959"/>
                  </a:lnTo>
                  <a:lnTo>
                    <a:pt x="0" y="37384"/>
                  </a:lnTo>
                  <a:close/>
                </a:path>
              </a:pathLst>
            </a:custGeom>
            <a:ln w="14287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324229" y="1919732"/>
            <a:ext cx="1115695" cy="18059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685" marR="175260" algn="just">
              <a:lnSpc>
                <a:spcPct val="99400"/>
              </a:lnSpc>
              <a:spcBef>
                <a:spcPts val="110"/>
              </a:spcBef>
            </a:pPr>
            <a:r>
              <a:rPr sz="1800" spc="-10" dirty="0">
                <a:solidFill>
                  <a:srgbClr val="92BD39"/>
                </a:solidFill>
                <a:latin typeface="Calibri"/>
                <a:cs typeface="Calibri"/>
              </a:rPr>
              <a:t>Rigorous accuracy validation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99400"/>
              </a:lnSpc>
              <a:spcBef>
                <a:spcPts val="1120"/>
              </a:spcBef>
            </a:pPr>
            <a:r>
              <a:rPr sz="1800" spc="-10" dirty="0">
                <a:solidFill>
                  <a:srgbClr val="92BD39"/>
                </a:solidFill>
                <a:latin typeface="Calibri"/>
                <a:cs typeface="Calibri"/>
              </a:rPr>
              <a:t>Established standards comparison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19303" y="2056891"/>
            <a:ext cx="1435100" cy="5683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 indent="403860">
              <a:lnSpc>
                <a:spcPts val="2110"/>
              </a:lnSpc>
              <a:spcBef>
                <a:spcPts val="210"/>
              </a:spcBef>
            </a:pPr>
            <a:r>
              <a:rPr sz="1800" spc="-25" dirty="0">
                <a:solidFill>
                  <a:srgbClr val="1EABDA"/>
                </a:solidFill>
                <a:latin typeface="Calibri"/>
                <a:cs typeface="Calibri"/>
              </a:rPr>
              <a:t>Early-</a:t>
            </a:r>
            <a:r>
              <a:rPr sz="1800" spc="-15" dirty="0">
                <a:solidFill>
                  <a:srgbClr val="1EABDA"/>
                </a:solidFill>
                <a:latin typeface="Calibri"/>
                <a:cs typeface="Calibri"/>
              </a:rPr>
              <a:t>stage </a:t>
            </a:r>
            <a:r>
              <a:rPr sz="1800" dirty="0">
                <a:solidFill>
                  <a:srgbClr val="1EABDA"/>
                </a:solidFill>
                <a:latin typeface="Calibri"/>
                <a:cs typeface="Calibri"/>
              </a:rPr>
              <a:t>error</a:t>
            </a:r>
            <a:r>
              <a:rPr sz="1800" spc="-65" dirty="0">
                <a:solidFill>
                  <a:srgbClr val="1EABD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EABDA"/>
                </a:solidFill>
                <a:latin typeface="Calibri"/>
                <a:cs typeface="Calibri"/>
              </a:rPr>
              <a:t>detection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62682" y="2928620"/>
            <a:ext cx="1260475" cy="845819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462915" algn="r">
              <a:lnSpc>
                <a:spcPts val="2090"/>
              </a:lnSpc>
              <a:spcBef>
                <a:spcPts val="225"/>
              </a:spcBef>
            </a:pPr>
            <a:r>
              <a:rPr sz="1800" spc="-20" dirty="0">
                <a:solidFill>
                  <a:srgbClr val="1EABDA"/>
                </a:solidFill>
                <a:latin typeface="Calibri"/>
                <a:cs typeface="Calibri"/>
              </a:rPr>
              <a:t>Iterative </a:t>
            </a:r>
            <a:r>
              <a:rPr sz="1800" spc="-10" dirty="0">
                <a:solidFill>
                  <a:srgbClr val="1EABDA"/>
                </a:solidFill>
                <a:latin typeface="Calibri"/>
                <a:cs typeface="Calibri"/>
              </a:rPr>
              <a:t>development</a:t>
            </a:r>
            <a:endParaRPr sz="1800">
              <a:latin typeface="Calibri"/>
              <a:cs typeface="Calibri"/>
            </a:endParaRPr>
          </a:p>
          <a:p>
            <a:pPr marR="5080" algn="r">
              <a:lnSpc>
                <a:spcPts val="2150"/>
              </a:lnSpc>
            </a:pPr>
            <a:r>
              <a:rPr sz="1800" spc="-10" dirty="0">
                <a:solidFill>
                  <a:srgbClr val="1EABDA"/>
                </a:solidFill>
                <a:latin typeface="Calibri"/>
                <a:cs typeface="Calibri"/>
              </a:rPr>
              <a:t>focus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48178" y="4467859"/>
            <a:ext cx="115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1EABDA"/>
                </a:solidFill>
                <a:latin typeface="Calibri"/>
                <a:cs typeface="Calibri"/>
              </a:rPr>
              <a:t>Test</a:t>
            </a:r>
            <a:r>
              <a:rPr sz="1800" spc="-70" dirty="0">
                <a:solidFill>
                  <a:srgbClr val="1EABD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EABDA"/>
                </a:solidFill>
                <a:latin typeface="Calibri"/>
                <a:cs typeface="Calibri"/>
              </a:rPr>
              <a:t>Dataset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57907" y="4434332"/>
            <a:ext cx="1839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2BD39"/>
                </a:solidFill>
                <a:latin typeface="Calibri"/>
                <a:cs typeface="Calibri"/>
              </a:rPr>
              <a:t>Benchmark</a:t>
            </a:r>
            <a:r>
              <a:rPr sz="1800" spc="-70" dirty="0">
                <a:solidFill>
                  <a:srgbClr val="92BD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92BD39"/>
                </a:solidFill>
                <a:latin typeface="Calibri"/>
                <a:cs typeface="Calibri"/>
              </a:rPr>
              <a:t>Dataset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517189" y="2106978"/>
            <a:ext cx="756920" cy="511809"/>
            <a:chOff x="4517189" y="2106978"/>
            <a:chExt cx="756920" cy="511809"/>
          </a:xfrm>
        </p:grpSpPr>
        <p:sp>
          <p:nvSpPr>
            <p:cNvPr id="23" name="object 23"/>
            <p:cNvSpPr/>
            <p:nvPr/>
          </p:nvSpPr>
          <p:spPr>
            <a:xfrm>
              <a:off x="4847326" y="2317769"/>
              <a:ext cx="419734" cy="294005"/>
            </a:xfrm>
            <a:custGeom>
              <a:avLst/>
              <a:gdLst/>
              <a:ahLst/>
              <a:cxnLst/>
              <a:rect l="l" t="t" r="r" b="b"/>
              <a:pathLst>
                <a:path w="419735" h="294005">
                  <a:moveTo>
                    <a:pt x="419474" y="293479"/>
                  </a:moveTo>
                  <a:lnTo>
                    <a:pt x="300531" y="214578"/>
                  </a:lnTo>
                </a:path>
                <a:path w="419735" h="294005">
                  <a:moveTo>
                    <a:pt x="36734" y="142836"/>
                  </a:moveTo>
                  <a:lnTo>
                    <a:pt x="48840" y="103060"/>
                  </a:lnTo>
                  <a:lnTo>
                    <a:pt x="81855" y="70577"/>
                  </a:lnTo>
                  <a:lnTo>
                    <a:pt x="130822" y="48677"/>
                  </a:lnTo>
                  <a:lnTo>
                    <a:pt x="190786" y="40647"/>
                  </a:lnTo>
                  <a:lnTo>
                    <a:pt x="250750" y="48677"/>
                  </a:lnTo>
                  <a:lnTo>
                    <a:pt x="299717" y="70577"/>
                  </a:lnTo>
                  <a:lnTo>
                    <a:pt x="332732" y="103060"/>
                  </a:lnTo>
                  <a:lnTo>
                    <a:pt x="344838" y="142836"/>
                  </a:lnTo>
                  <a:lnTo>
                    <a:pt x="332732" y="182613"/>
                  </a:lnTo>
                  <a:lnTo>
                    <a:pt x="299717" y="215095"/>
                  </a:lnTo>
                  <a:lnTo>
                    <a:pt x="250750" y="236996"/>
                  </a:lnTo>
                  <a:lnTo>
                    <a:pt x="190786" y="245026"/>
                  </a:lnTo>
                  <a:lnTo>
                    <a:pt x="130822" y="236996"/>
                  </a:lnTo>
                  <a:lnTo>
                    <a:pt x="81855" y="215095"/>
                  </a:lnTo>
                  <a:lnTo>
                    <a:pt x="48840" y="182613"/>
                  </a:lnTo>
                  <a:lnTo>
                    <a:pt x="36734" y="142836"/>
                  </a:lnTo>
                </a:path>
                <a:path w="419735" h="294005">
                  <a:moveTo>
                    <a:pt x="173979" y="170265"/>
                  </a:moveTo>
                  <a:lnTo>
                    <a:pt x="156588" y="181801"/>
                  </a:lnTo>
                </a:path>
                <a:path w="419735" h="294005">
                  <a:moveTo>
                    <a:pt x="191371" y="95246"/>
                  </a:moveTo>
                  <a:lnTo>
                    <a:pt x="191371" y="112561"/>
                  </a:lnTo>
                </a:path>
                <a:path w="419735" h="294005">
                  <a:moveTo>
                    <a:pt x="18400" y="0"/>
                  </a:moveTo>
                  <a:lnTo>
                    <a:pt x="35790" y="11535"/>
                  </a:lnTo>
                </a:path>
                <a:path w="419735" h="294005">
                  <a:moveTo>
                    <a:pt x="17391" y="262601"/>
                  </a:moveTo>
                  <a:lnTo>
                    <a:pt x="0" y="262601"/>
                  </a:lnTo>
                </a:path>
              </a:pathLst>
            </a:custGeom>
            <a:ln w="14287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17189" y="2106978"/>
              <a:ext cx="307263" cy="208339"/>
            </a:xfrm>
            <a:prstGeom prst="rect">
              <a:avLst/>
            </a:prstGeom>
          </p:spPr>
        </p:pic>
      </p:grpSp>
      <p:sp>
        <p:nvSpPr>
          <p:cNvPr id="25" name="object 25"/>
          <p:cNvSpPr/>
          <p:nvPr/>
        </p:nvSpPr>
        <p:spPr>
          <a:xfrm>
            <a:off x="4531161" y="2580370"/>
            <a:ext cx="17780" cy="0"/>
          </a:xfrm>
          <a:custGeom>
            <a:avLst/>
            <a:gdLst/>
            <a:ahLst/>
            <a:cxnLst/>
            <a:rect l="l" t="t" r="r" b="b"/>
            <a:pathLst>
              <a:path w="17779">
                <a:moveTo>
                  <a:pt x="0" y="0"/>
                </a:moveTo>
                <a:lnTo>
                  <a:pt x="17391" y="0"/>
                </a:lnTo>
              </a:path>
            </a:pathLst>
          </a:custGeom>
          <a:ln w="14287">
            <a:solidFill>
              <a:srgbClr val="4848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621140" y="2580370"/>
            <a:ext cx="17780" cy="0"/>
          </a:xfrm>
          <a:custGeom>
            <a:avLst/>
            <a:gdLst/>
            <a:ahLst/>
            <a:cxnLst/>
            <a:rect l="l" t="t" r="r" b="b"/>
            <a:pathLst>
              <a:path w="17779">
                <a:moveTo>
                  <a:pt x="17391" y="0"/>
                </a:moveTo>
                <a:lnTo>
                  <a:pt x="0" y="0"/>
                </a:lnTo>
              </a:path>
            </a:pathLst>
          </a:custGeom>
          <a:ln w="14287">
            <a:solidFill>
              <a:srgbClr val="4848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742913" y="2580370"/>
            <a:ext cx="17780" cy="0"/>
          </a:xfrm>
          <a:custGeom>
            <a:avLst/>
            <a:gdLst/>
            <a:ahLst/>
            <a:cxnLst/>
            <a:rect l="l" t="t" r="r" b="b"/>
            <a:pathLst>
              <a:path w="17779">
                <a:moveTo>
                  <a:pt x="0" y="0"/>
                </a:moveTo>
                <a:lnTo>
                  <a:pt x="17422" y="0"/>
                </a:lnTo>
              </a:path>
            </a:pathLst>
          </a:custGeom>
          <a:ln w="14287">
            <a:solidFill>
              <a:srgbClr val="4848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6654610" y="2104823"/>
            <a:ext cx="595630" cy="518159"/>
            <a:chOff x="6654610" y="2104823"/>
            <a:chExt cx="595630" cy="518159"/>
          </a:xfrm>
        </p:grpSpPr>
        <p:sp>
          <p:nvSpPr>
            <p:cNvPr id="29" name="object 29"/>
            <p:cNvSpPr/>
            <p:nvPr/>
          </p:nvSpPr>
          <p:spPr>
            <a:xfrm>
              <a:off x="6661753" y="2111966"/>
              <a:ext cx="581025" cy="503555"/>
            </a:xfrm>
            <a:custGeom>
              <a:avLst/>
              <a:gdLst/>
              <a:ahLst/>
              <a:cxnLst/>
              <a:rect l="l" t="t" r="r" b="b"/>
              <a:pathLst>
                <a:path w="581025" h="503555">
                  <a:moveTo>
                    <a:pt x="454715" y="437757"/>
                  </a:moveTo>
                  <a:lnTo>
                    <a:pt x="454715" y="218878"/>
                  </a:lnTo>
                </a:path>
                <a:path w="581025" h="503555">
                  <a:moveTo>
                    <a:pt x="328405" y="109439"/>
                  </a:moveTo>
                  <a:lnTo>
                    <a:pt x="338331" y="66840"/>
                  </a:lnTo>
                  <a:lnTo>
                    <a:pt x="365400" y="32053"/>
                  </a:lnTo>
                  <a:lnTo>
                    <a:pt x="405549" y="8600"/>
                  </a:lnTo>
                  <a:lnTo>
                    <a:pt x="454715" y="0"/>
                  </a:lnTo>
                  <a:lnTo>
                    <a:pt x="503880" y="8600"/>
                  </a:lnTo>
                  <a:lnTo>
                    <a:pt x="544029" y="32053"/>
                  </a:lnTo>
                  <a:lnTo>
                    <a:pt x="571098" y="66840"/>
                  </a:lnTo>
                  <a:lnTo>
                    <a:pt x="581025" y="109439"/>
                  </a:lnTo>
                  <a:lnTo>
                    <a:pt x="571098" y="152038"/>
                  </a:lnTo>
                  <a:lnTo>
                    <a:pt x="544029" y="186824"/>
                  </a:lnTo>
                  <a:lnTo>
                    <a:pt x="503880" y="210278"/>
                  </a:lnTo>
                  <a:lnTo>
                    <a:pt x="454715" y="218878"/>
                  </a:lnTo>
                  <a:lnTo>
                    <a:pt x="405549" y="210278"/>
                  </a:lnTo>
                  <a:lnTo>
                    <a:pt x="365400" y="186824"/>
                  </a:lnTo>
                  <a:lnTo>
                    <a:pt x="338331" y="152038"/>
                  </a:lnTo>
                  <a:lnTo>
                    <a:pt x="328405" y="109439"/>
                  </a:lnTo>
                </a:path>
                <a:path w="581025" h="503555">
                  <a:moveTo>
                    <a:pt x="12630" y="437757"/>
                  </a:moveTo>
                  <a:lnTo>
                    <a:pt x="454715" y="437757"/>
                  </a:lnTo>
                  <a:lnTo>
                    <a:pt x="454715" y="492477"/>
                  </a:lnTo>
                  <a:lnTo>
                    <a:pt x="454715" y="498520"/>
                  </a:lnTo>
                  <a:lnTo>
                    <a:pt x="449059" y="503421"/>
                  </a:lnTo>
                  <a:lnTo>
                    <a:pt x="442084" y="503421"/>
                  </a:lnTo>
                  <a:lnTo>
                    <a:pt x="12630" y="503421"/>
                  </a:lnTo>
                  <a:lnTo>
                    <a:pt x="5654" y="503421"/>
                  </a:lnTo>
                  <a:lnTo>
                    <a:pt x="0" y="498520"/>
                  </a:lnTo>
                  <a:lnTo>
                    <a:pt x="0" y="492477"/>
                  </a:lnTo>
                  <a:lnTo>
                    <a:pt x="0" y="448701"/>
                  </a:lnTo>
                  <a:lnTo>
                    <a:pt x="0" y="442656"/>
                  </a:lnTo>
                  <a:lnTo>
                    <a:pt x="5654" y="437757"/>
                  </a:lnTo>
                  <a:lnTo>
                    <a:pt x="12630" y="437757"/>
                  </a:lnTo>
                  <a:close/>
                </a:path>
              </a:pathLst>
            </a:custGeom>
            <a:ln w="14287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84845" y="2156806"/>
              <a:ext cx="89290" cy="9363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43026" y="2258038"/>
              <a:ext cx="191120" cy="24791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687015" y="2330845"/>
              <a:ext cx="303530" cy="175260"/>
            </a:xfrm>
            <a:custGeom>
              <a:avLst/>
              <a:gdLst/>
              <a:ahLst/>
              <a:cxnLst/>
              <a:rect l="l" t="t" r="r" b="b"/>
              <a:pathLst>
                <a:path w="303529" h="175260">
                  <a:moveTo>
                    <a:pt x="25261" y="0"/>
                  </a:moveTo>
                  <a:lnTo>
                    <a:pt x="277881" y="0"/>
                  </a:lnTo>
                  <a:lnTo>
                    <a:pt x="281828" y="341"/>
                  </a:lnTo>
                  <a:lnTo>
                    <a:pt x="290512" y="2735"/>
                  </a:lnTo>
                  <a:lnTo>
                    <a:pt x="299196" y="9233"/>
                  </a:lnTo>
                  <a:lnTo>
                    <a:pt x="303143" y="21887"/>
                  </a:lnTo>
                  <a:lnTo>
                    <a:pt x="303143" y="153215"/>
                  </a:lnTo>
                  <a:lnTo>
                    <a:pt x="302748" y="156635"/>
                  </a:lnTo>
                  <a:lnTo>
                    <a:pt x="299985" y="164159"/>
                  </a:lnTo>
                  <a:lnTo>
                    <a:pt x="292486" y="171683"/>
                  </a:lnTo>
                  <a:lnTo>
                    <a:pt x="277881" y="175103"/>
                  </a:lnTo>
                  <a:lnTo>
                    <a:pt x="25261" y="175103"/>
                  </a:lnTo>
                  <a:lnTo>
                    <a:pt x="21314" y="174761"/>
                  </a:lnTo>
                  <a:lnTo>
                    <a:pt x="12630" y="172367"/>
                  </a:lnTo>
                  <a:lnTo>
                    <a:pt x="3947" y="165869"/>
                  </a:lnTo>
                  <a:lnTo>
                    <a:pt x="0" y="153215"/>
                  </a:lnTo>
                  <a:lnTo>
                    <a:pt x="0" y="21887"/>
                  </a:lnTo>
                  <a:lnTo>
                    <a:pt x="394" y="18467"/>
                  </a:lnTo>
                  <a:lnTo>
                    <a:pt x="3157" y="10943"/>
                  </a:lnTo>
                  <a:lnTo>
                    <a:pt x="10657" y="3419"/>
                  </a:lnTo>
                  <a:lnTo>
                    <a:pt x="25261" y="0"/>
                  </a:lnTo>
                </a:path>
              </a:pathLst>
            </a:custGeom>
            <a:ln w="14287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4448647" y="3030909"/>
            <a:ext cx="572770" cy="454025"/>
            <a:chOff x="4448647" y="3030909"/>
            <a:chExt cx="572770" cy="454025"/>
          </a:xfrm>
        </p:grpSpPr>
        <p:sp>
          <p:nvSpPr>
            <p:cNvPr id="34" name="object 34"/>
            <p:cNvSpPr/>
            <p:nvPr/>
          </p:nvSpPr>
          <p:spPr>
            <a:xfrm>
              <a:off x="4455791" y="3038053"/>
              <a:ext cx="316230" cy="229235"/>
            </a:xfrm>
            <a:custGeom>
              <a:avLst/>
              <a:gdLst/>
              <a:ahLst/>
              <a:cxnLst/>
              <a:rect l="l" t="t" r="r" b="b"/>
              <a:pathLst>
                <a:path w="316229" h="229235">
                  <a:moveTo>
                    <a:pt x="315771" y="0"/>
                  </a:moveTo>
                  <a:lnTo>
                    <a:pt x="308870" y="42805"/>
                  </a:lnTo>
                  <a:lnTo>
                    <a:pt x="292982" y="82433"/>
                  </a:lnTo>
                  <a:lnTo>
                    <a:pt x="268939" y="118386"/>
                  </a:lnTo>
                  <a:lnTo>
                    <a:pt x="237572" y="150169"/>
                  </a:lnTo>
                  <a:lnTo>
                    <a:pt x="199715" y="177286"/>
                  </a:lnTo>
                  <a:lnTo>
                    <a:pt x="156197" y="199240"/>
                  </a:lnTo>
                  <a:lnTo>
                    <a:pt x="107850" y="215536"/>
                  </a:lnTo>
                  <a:lnTo>
                    <a:pt x="55507" y="225678"/>
                  </a:lnTo>
                  <a:lnTo>
                    <a:pt x="0" y="229168"/>
                  </a:lnTo>
                </a:path>
              </a:pathLst>
            </a:custGeom>
            <a:ln w="14287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16024" y="3030909"/>
              <a:ext cx="305298" cy="19147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455791" y="3146392"/>
              <a:ext cx="559435" cy="331470"/>
            </a:xfrm>
            <a:custGeom>
              <a:avLst/>
              <a:gdLst/>
              <a:ahLst/>
              <a:cxnLst/>
              <a:rect l="l" t="t" r="r" b="b"/>
              <a:pathLst>
                <a:path w="559435" h="331470">
                  <a:moveTo>
                    <a:pt x="394988" y="330901"/>
                  </a:moveTo>
                  <a:lnTo>
                    <a:pt x="394988" y="92183"/>
                  </a:lnTo>
                  <a:lnTo>
                    <a:pt x="394967" y="84754"/>
                  </a:lnTo>
                  <a:lnTo>
                    <a:pt x="396537" y="77375"/>
                  </a:lnTo>
                  <a:lnTo>
                    <a:pt x="399631" y="70354"/>
                  </a:lnTo>
                  <a:lnTo>
                    <a:pt x="413296" y="47487"/>
                  </a:lnTo>
                  <a:lnTo>
                    <a:pt x="432702" y="27709"/>
                  </a:lnTo>
                  <a:lnTo>
                    <a:pt x="457059" y="11664"/>
                  </a:lnTo>
                  <a:lnTo>
                    <a:pt x="485579" y="0"/>
                  </a:lnTo>
                </a:path>
                <a:path w="559435" h="331470">
                  <a:moveTo>
                    <a:pt x="0" y="330901"/>
                  </a:moveTo>
                  <a:lnTo>
                    <a:pt x="559061" y="330901"/>
                  </a:lnTo>
                </a:path>
              </a:pathLst>
            </a:custGeom>
            <a:ln w="14287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54723" y="3232157"/>
              <a:ext cx="403198" cy="252279"/>
            </a:xfrm>
            <a:prstGeom prst="rect">
              <a:avLst/>
            </a:prstGeom>
          </p:spPr>
        </p:pic>
      </p:grpSp>
      <p:sp>
        <p:nvSpPr>
          <p:cNvPr id="38" name="object 38"/>
          <p:cNvSpPr/>
          <p:nvPr/>
        </p:nvSpPr>
        <p:spPr>
          <a:xfrm>
            <a:off x="6661754" y="3020029"/>
            <a:ext cx="581025" cy="475615"/>
          </a:xfrm>
          <a:custGeom>
            <a:avLst/>
            <a:gdLst/>
            <a:ahLst/>
            <a:cxnLst/>
            <a:rect l="l" t="t" r="r" b="b"/>
            <a:pathLst>
              <a:path w="581025" h="475614">
                <a:moveTo>
                  <a:pt x="352679" y="185416"/>
                </a:moveTo>
                <a:lnTo>
                  <a:pt x="352679" y="102962"/>
                </a:lnTo>
                <a:lnTo>
                  <a:pt x="75574" y="102962"/>
                </a:lnTo>
                <a:lnTo>
                  <a:pt x="75574" y="370917"/>
                </a:lnTo>
                <a:lnTo>
                  <a:pt x="201531" y="370938"/>
                </a:lnTo>
              </a:path>
              <a:path w="581025" h="475614">
                <a:moveTo>
                  <a:pt x="226722" y="432778"/>
                </a:moveTo>
                <a:lnTo>
                  <a:pt x="25191" y="432778"/>
                </a:lnTo>
                <a:lnTo>
                  <a:pt x="15385" y="431158"/>
                </a:lnTo>
                <a:lnTo>
                  <a:pt x="7377" y="426741"/>
                </a:lnTo>
                <a:lnTo>
                  <a:pt x="1979" y="420188"/>
                </a:lnTo>
                <a:lnTo>
                  <a:pt x="0" y="412165"/>
                </a:lnTo>
                <a:lnTo>
                  <a:pt x="0" y="61735"/>
                </a:lnTo>
                <a:lnTo>
                  <a:pt x="1979" y="53711"/>
                </a:lnTo>
                <a:lnTo>
                  <a:pt x="7377" y="47159"/>
                </a:lnTo>
                <a:lnTo>
                  <a:pt x="15385" y="42741"/>
                </a:lnTo>
                <a:lnTo>
                  <a:pt x="25191" y="41122"/>
                </a:lnTo>
                <a:lnTo>
                  <a:pt x="137342" y="41122"/>
                </a:lnTo>
                <a:lnTo>
                  <a:pt x="150295" y="24157"/>
                </a:lnTo>
                <a:lnTo>
                  <a:pt x="168272" y="11193"/>
                </a:lnTo>
                <a:lnTo>
                  <a:pt x="189992" y="2912"/>
                </a:lnTo>
                <a:lnTo>
                  <a:pt x="214177" y="0"/>
                </a:lnTo>
                <a:lnTo>
                  <a:pt x="238361" y="2912"/>
                </a:lnTo>
                <a:lnTo>
                  <a:pt x="260081" y="11193"/>
                </a:lnTo>
                <a:lnTo>
                  <a:pt x="278057" y="24157"/>
                </a:lnTo>
                <a:lnTo>
                  <a:pt x="291010" y="41122"/>
                </a:lnTo>
                <a:lnTo>
                  <a:pt x="403062" y="41122"/>
                </a:lnTo>
                <a:lnTo>
                  <a:pt x="412868" y="42741"/>
                </a:lnTo>
                <a:lnTo>
                  <a:pt x="420875" y="47159"/>
                </a:lnTo>
                <a:lnTo>
                  <a:pt x="426274" y="53711"/>
                </a:lnTo>
                <a:lnTo>
                  <a:pt x="428254" y="61735"/>
                </a:lnTo>
                <a:lnTo>
                  <a:pt x="428254" y="164803"/>
                </a:lnTo>
              </a:path>
              <a:path w="581025" h="475614">
                <a:moveTo>
                  <a:pt x="151148" y="164803"/>
                </a:moveTo>
                <a:lnTo>
                  <a:pt x="277105" y="164803"/>
                </a:lnTo>
              </a:path>
              <a:path w="581025" h="475614">
                <a:moveTo>
                  <a:pt x="151148" y="226643"/>
                </a:moveTo>
                <a:lnTo>
                  <a:pt x="277105" y="226643"/>
                </a:lnTo>
              </a:path>
              <a:path w="581025" h="475614">
                <a:moveTo>
                  <a:pt x="226722" y="288484"/>
                </a:moveTo>
                <a:lnTo>
                  <a:pt x="151148" y="288484"/>
                </a:lnTo>
              </a:path>
              <a:path w="581025" h="475614">
                <a:moveTo>
                  <a:pt x="446039" y="235424"/>
                </a:moveTo>
                <a:lnTo>
                  <a:pt x="484808" y="309015"/>
                </a:lnTo>
                <a:lnTo>
                  <a:pt x="560230" y="309015"/>
                </a:lnTo>
                <a:lnTo>
                  <a:pt x="568035" y="308774"/>
                </a:lnTo>
                <a:lnTo>
                  <a:pt x="575185" y="312564"/>
                </a:lnTo>
                <a:lnTo>
                  <a:pt x="578105" y="318492"/>
                </a:lnTo>
                <a:lnTo>
                  <a:pt x="581024" y="324419"/>
                </a:lnTo>
                <a:lnTo>
                  <a:pt x="579084" y="331208"/>
                </a:lnTo>
                <a:lnTo>
                  <a:pt x="573255" y="335462"/>
                </a:lnTo>
                <a:lnTo>
                  <a:pt x="507757" y="383203"/>
                </a:lnTo>
                <a:lnTo>
                  <a:pt x="544058" y="451495"/>
                </a:lnTo>
                <a:lnTo>
                  <a:pt x="547345" y="457888"/>
                </a:lnTo>
                <a:lnTo>
                  <a:pt x="545287" y="465284"/>
                </a:lnTo>
                <a:lnTo>
                  <a:pt x="538944" y="469882"/>
                </a:lnTo>
                <a:lnTo>
                  <a:pt x="532599" y="474481"/>
                </a:lnTo>
                <a:lnTo>
                  <a:pt x="523379" y="475260"/>
                </a:lnTo>
                <a:lnTo>
                  <a:pt x="516020" y="471820"/>
                </a:lnTo>
                <a:lnTo>
                  <a:pt x="428354" y="431397"/>
                </a:lnTo>
                <a:lnTo>
                  <a:pt x="340688" y="471820"/>
                </a:lnTo>
                <a:lnTo>
                  <a:pt x="333344" y="475290"/>
                </a:lnTo>
                <a:lnTo>
                  <a:pt x="324113" y="474541"/>
                </a:lnTo>
                <a:lnTo>
                  <a:pt x="317743" y="469959"/>
                </a:lnTo>
                <a:lnTo>
                  <a:pt x="311375" y="465378"/>
                </a:lnTo>
                <a:lnTo>
                  <a:pt x="309284" y="457983"/>
                </a:lnTo>
                <a:lnTo>
                  <a:pt x="312549" y="451578"/>
                </a:lnTo>
                <a:lnTo>
                  <a:pt x="348825" y="383285"/>
                </a:lnTo>
                <a:lnTo>
                  <a:pt x="283327" y="335544"/>
                </a:lnTo>
                <a:lnTo>
                  <a:pt x="277481" y="331308"/>
                </a:lnTo>
                <a:lnTo>
                  <a:pt x="275517" y="324522"/>
                </a:lnTo>
                <a:lnTo>
                  <a:pt x="278421" y="318590"/>
                </a:lnTo>
                <a:lnTo>
                  <a:pt x="281325" y="312658"/>
                </a:lnTo>
                <a:lnTo>
                  <a:pt x="288471" y="308859"/>
                </a:lnTo>
                <a:lnTo>
                  <a:pt x="296276" y="309097"/>
                </a:lnTo>
                <a:lnTo>
                  <a:pt x="371850" y="309097"/>
                </a:lnTo>
                <a:lnTo>
                  <a:pt x="410468" y="235424"/>
                </a:lnTo>
                <a:lnTo>
                  <a:pt x="413969" y="230048"/>
                </a:lnTo>
                <a:lnTo>
                  <a:pt x="420807" y="226690"/>
                </a:lnTo>
                <a:lnTo>
                  <a:pt x="428254" y="226690"/>
                </a:lnTo>
                <a:lnTo>
                  <a:pt x="435699" y="226690"/>
                </a:lnTo>
                <a:lnTo>
                  <a:pt x="442537" y="230048"/>
                </a:lnTo>
                <a:lnTo>
                  <a:pt x="446039" y="235424"/>
                </a:lnTo>
                <a:close/>
              </a:path>
            </a:pathLst>
          </a:custGeom>
          <a:ln w="14287">
            <a:solidFill>
              <a:srgbClr val="4848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395" dirty="0"/>
              <a:t> </a:t>
            </a:r>
            <a:r>
              <a:rPr spc="-10" dirty="0"/>
              <a:t>Journey</a:t>
            </a:r>
          </a:p>
        </p:txBody>
      </p:sp>
      <p:sp>
        <p:nvSpPr>
          <p:cNvPr id="3" name="object 3"/>
          <p:cNvSpPr/>
          <p:nvPr/>
        </p:nvSpPr>
        <p:spPr>
          <a:xfrm>
            <a:off x="152398" y="1153787"/>
            <a:ext cx="8321040" cy="0"/>
          </a:xfrm>
          <a:custGeom>
            <a:avLst/>
            <a:gdLst/>
            <a:ahLst/>
            <a:cxnLst/>
            <a:rect l="l" t="t" r="r" b="b"/>
            <a:pathLst>
              <a:path w="8321040">
                <a:moveTo>
                  <a:pt x="0" y="0"/>
                </a:moveTo>
                <a:lnTo>
                  <a:pt x="8321040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45102" y="1668780"/>
            <a:ext cx="6480810" cy="3293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ourier New"/>
                <a:cs typeface="Courier New"/>
              </a:rPr>
              <a:t>Resources</a:t>
            </a:r>
            <a:r>
              <a:rPr sz="3200" spc="-9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of</a:t>
            </a:r>
            <a:r>
              <a:rPr sz="3200" spc="-9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test</a:t>
            </a:r>
            <a:r>
              <a:rPr sz="3200" spc="-90" dirty="0">
                <a:latin typeface="Courier New"/>
                <a:cs typeface="Courier New"/>
              </a:rPr>
              <a:t> </a:t>
            </a:r>
            <a:r>
              <a:rPr sz="3200" spc="-10" dirty="0">
                <a:latin typeface="Courier New"/>
                <a:cs typeface="Courier New"/>
              </a:rPr>
              <a:t>Dataset</a:t>
            </a:r>
            <a:endParaRPr sz="3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14"/>
              </a:spcBef>
            </a:pPr>
            <a:endParaRPr sz="3200">
              <a:latin typeface="Courier New"/>
              <a:cs typeface="Courier New"/>
            </a:endParaRPr>
          </a:p>
          <a:p>
            <a:pPr marL="991235">
              <a:lnSpc>
                <a:spcPct val="100000"/>
              </a:lnSpc>
            </a:pPr>
            <a:r>
              <a:rPr sz="3200" spc="-10" dirty="0">
                <a:latin typeface="Courier New"/>
                <a:cs typeface="Courier New"/>
              </a:rPr>
              <a:t>cwe.mitre</a:t>
            </a:r>
            <a:endParaRPr sz="3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3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415"/>
              </a:spcBef>
            </a:pPr>
            <a:endParaRPr sz="3200">
              <a:latin typeface="Courier New"/>
              <a:cs typeface="Courier New"/>
            </a:endParaRPr>
          </a:p>
          <a:p>
            <a:pPr marL="991235">
              <a:lnSpc>
                <a:spcPct val="100000"/>
              </a:lnSpc>
            </a:pPr>
            <a:r>
              <a:rPr sz="3200" spc="-10" dirty="0">
                <a:latin typeface="Courier New"/>
                <a:cs typeface="Courier New"/>
              </a:rPr>
              <a:t>OWASP</a:t>
            </a:r>
            <a:endParaRPr sz="3200">
              <a:latin typeface="Courier New"/>
              <a:cs typeface="Courier New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1729" y="2658992"/>
            <a:ext cx="2761860" cy="11369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9308" y="4027032"/>
            <a:ext cx="4809878" cy="1226102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395" dirty="0"/>
              <a:t> </a:t>
            </a:r>
            <a:r>
              <a:rPr spc="-10" dirty="0"/>
              <a:t>Journey</a:t>
            </a:r>
          </a:p>
        </p:txBody>
      </p:sp>
      <p:sp>
        <p:nvSpPr>
          <p:cNvPr id="3" name="object 3"/>
          <p:cNvSpPr/>
          <p:nvPr/>
        </p:nvSpPr>
        <p:spPr>
          <a:xfrm>
            <a:off x="152398" y="1153787"/>
            <a:ext cx="8321040" cy="0"/>
          </a:xfrm>
          <a:custGeom>
            <a:avLst/>
            <a:gdLst/>
            <a:ahLst/>
            <a:cxnLst/>
            <a:rect l="l" t="t" r="r" b="b"/>
            <a:pathLst>
              <a:path w="8321040">
                <a:moveTo>
                  <a:pt x="0" y="0"/>
                </a:moveTo>
                <a:lnTo>
                  <a:pt x="8321040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8711" y="1668780"/>
            <a:ext cx="7214234" cy="8775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377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ourier New"/>
                <a:cs typeface="Courier New"/>
              </a:rPr>
              <a:t>Sources</a:t>
            </a:r>
            <a:r>
              <a:rPr sz="3200" spc="-114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of</a:t>
            </a:r>
            <a:r>
              <a:rPr sz="3200" spc="-11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Benchmark</a:t>
            </a:r>
            <a:r>
              <a:rPr sz="3200" spc="-110" dirty="0">
                <a:latin typeface="Courier New"/>
                <a:cs typeface="Courier New"/>
              </a:rPr>
              <a:t> </a:t>
            </a:r>
            <a:r>
              <a:rPr sz="3200" spc="-10" dirty="0">
                <a:latin typeface="Courier New"/>
                <a:cs typeface="Courier New"/>
              </a:rPr>
              <a:t>dataset</a:t>
            </a:r>
            <a:endParaRPr sz="3200">
              <a:latin typeface="Courier New"/>
              <a:cs typeface="Courier New"/>
            </a:endParaRPr>
          </a:p>
          <a:p>
            <a:pPr marL="354965">
              <a:lnSpc>
                <a:spcPts val="2930"/>
              </a:lnSpc>
            </a:pPr>
            <a:r>
              <a:rPr sz="2500" i="1" spc="-40" dirty="0">
                <a:latin typeface="Courier New"/>
                <a:cs typeface="Courier New"/>
              </a:rPr>
              <a:t>(Manually</a:t>
            </a:r>
            <a:r>
              <a:rPr sz="2500" i="1" spc="-300" dirty="0">
                <a:latin typeface="Courier New"/>
                <a:cs typeface="Courier New"/>
              </a:rPr>
              <a:t> </a:t>
            </a:r>
            <a:r>
              <a:rPr sz="2500" i="1" spc="-40" dirty="0">
                <a:latin typeface="Courier New"/>
                <a:cs typeface="Courier New"/>
              </a:rPr>
              <a:t>collected</a:t>
            </a:r>
            <a:r>
              <a:rPr sz="2500" i="1" spc="-290" dirty="0">
                <a:latin typeface="Courier New"/>
                <a:cs typeface="Courier New"/>
              </a:rPr>
              <a:t> </a:t>
            </a:r>
            <a:r>
              <a:rPr sz="2500" i="1" spc="-50" dirty="0">
                <a:latin typeface="Courier New"/>
                <a:cs typeface="Courier New"/>
              </a:rPr>
              <a:t>)</a:t>
            </a:r>
            <a:endParaRPr sz="2500">
              <a:latin typeface="Courier New"/>
              <a:cs typeface="Courier New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1761" y="3099990"/>
            <a:ext cx="1905000" cy="108585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245151" y="2815948"/>
            <a:ext cx="5667375" cy="2784475"/>
            <a:chOff x="5245151" y="2815948"/>
            <a:chExt cx="5667375" cy="278447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2219" y="2815948"/>
              <a:ext cx="4809878" cy="122610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45151" y="3898352"/>
              <a:ext cx="1701695" cy="1701695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395" dirty="0"/>
              <a:t> </a:t>
            </a:r>
            <a:r>
              <a:rPr spc="-10" dirty="0"/>
              <a:t>Journey</a:t>
            </a:r>
          </a:p>
        </p:txBody>
      </p:sp>
      <p:sp>
        <p:nvSpPr>
          <p:cNvPr id="3" name="object 3"/>
          <p:cNvSpPr/>
          <p:nvPr/>
        </p:nvSpPr>
        <p:spPr>
          <a:xfrm>
            <a:off x="152398" y="1153787"/>
            <a:ext cx="8321040" cy="0"/>
          </a:xfrm>
          <a:custGeom>
            <a:avLst/>
            <a:gdLst/>
            <a:ahLst/>
            <a:cxnLst/>
            <a:rect l="l" t="t" r="r" b="b"/>
            <a:pathLst>
              <a:path w="8321040">
                <a:moveTo>
                  <a:pt x="0" y="0"/>
                </a:moveTo>
                <a:lnTo>
                  <a:pt x="8321040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9003" y="1539283"/>
            <a:ext cx="9933991" cy="47281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395" dirty="0"/>
              <a:t> </a:t>
            </a:r>
            <a:r>
              <a:rPr spc="-10" dirty="0"/>
              <a:t>Journey</a:t>
            </a:r>
          </a:p>
        </p:txBody>
      </p:sp>
      <p:sp>
        <p:nvSpPr>
          <p:cNvPr id="3" name="object 3"/>
          <p:cNvSpPr/>
          <p:nvPr/>
        </p:nvSpPr>
        <p:spPr>
          <a:xfrm>
            <a:off x="152398" y="1153787"/>
            <a:ext cx="8321040" cy="0"/>
          </a:xfrm>
          <a:custGeom>
            <a:avLst/>
            <a:gdLst/>
            <a:ahLst/>
            <a:cxnLst/>
            <a:rect l="l" t="t" r="r" b="b"/>
            <a:pathLst>
              <a:path w="8321040">
                <a:moveTo>
                  <a:pt x="0" y="0"/>
                </a:moveTo>
                <a:lnTo>
                  <a:pt x="8321040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6019800" y="1433255"/>
            <a:ext cx="5731510" cy="4901565"/>
            <a:chOff x="6019800" y="1433255"/>
            <a:chExt cx="5731510" cy="490156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9421" y="1433255"/>
              <a:ext cx="5481457" cy="30091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9800" y="4464194"/>
              <a:ext cx="4114800" cy="187036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16939" y="2852420"/>
            <a:ext cx="3677285" cy="14827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370205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latin typeface="Courier New"/>
                <a:cs typeface="Courier New"/>
              </a:rPr>
              <a:t>Large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datset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be </a:t>
            </a:r>
            <a:r>
              <a:rPr sz="2400" spc="-10" dirty="0">
                <a:latin typeface="Courier New"/>
                <a:cs typeface="Courier New"/>
              </a:rPr>
              <a:t>enhanced: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ourier New"/>
                <a:cs typeface="Courier New"/>
              </a:rPr>
              <a:t>CVEFixes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from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Kaggle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395" dirty="0"/>
              <a:t> </a:t>
            </a:r>
            <a:r>
              <a:rPr spc="-10" dirty="0"/>
              <a:t>Journey</a:t>
            </a:r>
          </a:p>
        </p:txBody>
      </p:sp>
      <p:sp>
        <p:nvSpPr>
          <p:cNvPr id="3" name="object 3"/>
          <p:cNvSpPr/>
          <p:nvPr/>
        </p:nvSpPr>
        <p:spPr>
          <a:xfrm>
            <a:off x="152398" y="1153787"/>
            <a:ext cx="8321040" cy="0"/>
          </a:xfrm>
          <a:custGeom>
            <a:avLst/>
            <a:gdLst/>
            <a:ahLst/>
            <a:cxnLst/>
            <a:rect l="l" t="t" r="r" b="b"/>
            <a:pathLst>
              <a:path w="8321040">
                <a:moveTo>
                  <a:pt x="0" y="0"/>
                </a:moveTo>
                <a:lnTo>
                  <a:pt x="8321040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3538" y="1314196"/>
            <a:ext cx="10387965" cy="36182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484" dirty="0">
                <a:latin typeface="Verdana"/>
                <a:cs typeface="Verdana"/>
              </a:rPr>
              <a:t>Dataset</a:t>
            </a:r>
            <a:r>
              <a:rPr sz="2800" spc="-245" dirty="0">
                <a:latin typeface="Verdana"/>
                <a:cs typeface="Verdana"/>
              </a:rPr>
              <a:t> </a:t>
            </a:r>
            <a:r>
              <a:rPr sz="2800" spc="290" dirty="0">
                <a:latin typeface="Verdana"/>
                <a:cs typeface="Verdana"/>
              </a:rPr>
              <a:t>labeling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455" dirty="0">
                <a:latin typeface="Verdana"/>
                <a:cs typeface="Verdana"/>
              </a:rPr>
              <a:t>Processes</a:t>
            </a:r>
            <a:endParaRPr sz="2800">
              <a:latin typeface="Verdana"/>
              <a:cs typeface="Verdana"/>
            </a:endParaRPr>
          </a:p>
          <a:p>
            <a:pPr marL="648970" indent="-636270">
              <a:lnSpc>
                <a:spcPct val="100000"/>
              </a:lnSpc>
              <a:spcBef>
                <a:spcPts val="2640"/>
              </a:spcBef>
              <a:buAutoNum type="arabicPeriod"/>
              <a:tabLst>
                <a:tab pos="648970" algn="l"/>
              </a:tabLst>
            </a:pPr>
            <a:r>
              <a:rPr sz="2800" spc="-10" dirty="0">
                <a:latin typeface="Courier New"/>
                <a:cs typeface="Courier New"/>
              </a:rPr>
              <a:t>Pre-processing</a:t>
            </a:r>
            <a:endParaRPr sz="2800">
              <a:latin typeface="Courier New"/>
              <a:cs typeface="Courier New"/>
            </a:endParaRPr>
          </a:p>
          <a:p>
            <a:pPr marL="697230" lvl="1" indent="-227329">
              <a:lnSpc>
                <a:spcPct val="100000"/>
              </a:lnSpc>
              <a:spcBef>
                <a:spcPts val="203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ourier New"/>
                <a:cs typeface="Courier New"/>
              </a:rPr>
              <a:t>Input: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Raw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dataset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(CSV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file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with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code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snippets).</a:t>
            </a:r>
            <a:endParaRPr sz="2400">
              <a:latin typeface="Courier New"/>
              <a:cs typeface="Courier New"/>
            </a:endParaRPr>
          </a:p>
          <a:p>
            <a:pPr marL="696595" marR="5080" lvl="1" indent="-227329">
              <a:lnSpc>
                <a:spcPct val="153300"/>
              </a:lnSpc>
              <a:spcBef>
                <a:spcPts val="385"/>
              </a:spcBef>
              <a:buFont typeface="Arial MT"/>
              <a:buChar char="•"/>
              <a:tabLst>
                <a:tab pos="1840864" algn="l"/>
              </a:tabLst>
            </a:pPr>
            <a:r>
              <a:rPr sz="2400" dirty="0">
                <a:latin typeface="Courier New"/>
                <a:cs typeface="Courier New"/>
              </a:rPr>
              <a:t>Task: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Clean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dataset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by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removing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duplicates,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empty 	</a:t>
            </a:r>
            <a:r>
              <a:rPr sz="2400" dirty="0">
                <a:latin typeface="Courier New"/>
                <a:cs typeface="Courier New"/>
              </a:rPr>
              <a:t>rows,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unclear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data.</a:t>
            </a:r>
            <a:endParaRPr sz="2400">
              <a:latin typeface="Courier New"/>
              <a:cs typeface="Courier New"/>
            </a:endParaRPr>
          </a:p>
          <a:p>
            <a:pPr marL="697230" lvl="1" indent="-227329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ourier New"/>
                <a:cs typeface="Courier New"/>
              </a:rPr>
              <a:t>Output: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Cleaned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dataset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ready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labeling.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395" dirty="0"/>
              <a:t> </a:t>
            </a:r>
            <a:r>
              <a:rPr spc="-10" dirty="0"/>
              <a:t>Journey</a:t>
            </a:r>
          </a:p>
        </p:txBody>
      </p:sp>
      <p:sp>
        <p:nvSpPr>
          <p:cNvPr id="3" name="object 3"/>
          <p:cNvSpPr/>
          <p:nvPr/>
        </p:nvSpPr>
        <p:spPr>
          <a:xfrm>
            <a:off x="152398" y="1153787"/>
            <a:ext cx="8321040" cy="0"/>
          </a:xfrm>
          <a:custGeom>
            <a:avLst/>
            <a:gdLst/>
            <a:ahLst/>
            <a:cxnLst/>
            <a:rect l="l" t="t" r="r" b="b"/>
            <a:pathLst>
              <a:path w="8321040">
                <a:moveTo>
                  <a:pt x="0" y="0"/>
                </a:moveTo>
                <a:lnTo>
                  <a:pt x="8321040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3538" y="1314196"/>
            <a:ext cx="11530965" cy="36182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484" dirty="0">
                <a:latin typeface="Verdana"/>
                <a:cs typeface="Verdana"/>
              </a:rPr>
              <a:t>Dataset</a:t>
            </a:r>
            <a:r>
              <a:rPr sz="2800" spc="-245" dirty="0">
                <a:latin typeface="Verdana"/>
                <a:cs typeface="Verdana"/>
              </a:rPr>
              <a:t> </a:t>
            </a:r>
            <a:r>
              <a:rPr sz="2800" spc="290" dirty="0">
                <a:latin typeface="Verdana"/>
                <a:cs typeface="Verdana"/>
              </a:rPr>
              <a:t>labeling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455" dirty="0">
                <a:latin typeface="Verdana"/>
                <a:cs typeface="Verdana"/>
              </a:rPr>
              <a:t>Processes</a:t>
            </a:r>
            <a:endParaRPr sz="2800">
              <a:latin typeface="Verdana"/>
              <a:cs typeface="Verdana"/>
            </a:endParaRPr>
          </a:p>
          <a:p>
            <a:pPr marL="648970" indent="-636270">
              <a:lnSpc>
                <a:spcPct val="100000"/>
              </a:lnSpc>
              <a:spcBef>
                <a:spcPts val="2640"/>
              </a:spcBef>
              <a:buAutoNum type="arabicPeriod" startAt="2"/>
              <a:tabLst>
                <a:tab pos="648970" algn="l"/>
              </a:tabLst>
            </a:pPr>
            <a:r>
              <a:rPr sz="2800" spc="-10" dirty="0">
                <a:latin typeface="Courier New"/>
                <a:cs typeface="Courier New"/>
              </a:rPr>
              <a:t>Pre-labelLing</a:t>
            </a:r>
            <a:endParaRPr sz="2800">
              <a:latin typeface="Courier New"/>
              <a:cs typeface="Courier New"/>
            </a:endParaRPr>
          </a:p>
          <a:p>
            <a:pPr marL="697230" lvl="1" indent="-227329">
              <a:lnSpc>
                <a:spcPct val="100000"/>
              </a:lnSpc>
              <a:spcBef>
                <a:spcPts val="2030"/>
              </a:spcBef>
              <a:buSzPct val="102127"/>
              <a:buFont typeface="Arial MT"/>
              <a:buChar char="•"/>
              <a:tabLst>
                <a:tab pos="697230" algn="l"/>
              </a:tabLst>
            </a:pPr>
            <a:r>
              <a:rPr sz="3525" b="1" baseline="1182" dirty="0">
                <a:latin typeface="Courier New"/>
                <a:cs typeface="Courier New"/>
              </a:rPr>
              <a:t>Input</a:t>
            </a:r>
            <a:r>
              <a:rPr sz="2400" dirty="0">
                <a:latin typeface="Courier New"/>
                <a:cs typeface="Courier New"/>
              </a:rPr>
              <a:t>: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Cleaned </a:t>
            </a:r>
            <a:r>
              <a:rPr sz="2400" spc="-10" dirty="0">
                <a:latin typeface="Courier New"/>
                <a:cs typeface="Courier New"/>
              </a:rPr>
              <a:t>dataset.</a:t>
            </a:r>
            <a:endParaRPr sz="2400">
              <a:latin typeface="Courier New"/>
              <a:cs typeface="Courier New"/>
            </a:endParaRPr>
          </a:p>
          <a:p>
            <a:pPr marL="696595" marR="5080" lvl="1" indent="-227329">
              <a:lnSpc>
                <a:spcPct val="153300"/>
              </a:lnSpc>
              <a:spcBef>
                <a:spcPts val="385"/>
              </a:spcBef>
              <a:buSzPct val="102127"/>
              <a:buFont typeface="Arial MT"/>
              <a:buChar char="•"/>
              <a:tabLst>
                <a:tab pos="2023745" algn="l"/>
              </a:tabLst>
            </a:pPr>
            <a:r>
              <a:rPr sz="3525" b="1" baseline="1182" dirty="0">
                <a:latin typeface="Courier New"/>
                <a:cs typeface="Courier New"/>
              </a:rPr>
              <a:t>Task</a:t>
            </a:r>
            <a:r>
              <a:rPr sz="2400" dirty="0">
                <a:latin typeface="Courier New"/>
                <a:cs typeface="Courier New"/>
              </a:rPr>
              <a:t>: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: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Label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unlabelled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code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snippets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as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"Vulnerable"</a:t>
            </a:r>
            <a:r>
              <a:rPr sz="2400" spc="-25" dirty="0">
                <a:latin typeface="Courier New"/>
                <a:cs typeface="Courier New"/>
              </a:rPr>
              <a:t> or 	</a:t>
            </a:r>
            <a:r>
              <a:rPr sz="2400" spc="-10" dirty="0">
                <a:latin typeface="Courier New"/>
                <a:cs typeface="Courier New"/>
              </a:rPr>
              <a:t>"Non-</a:t>
            </a:r>
            <a:r>
              <a:rPr sz="2400" dirty="0">
                <a:latin typeface="Courier New"/>
                <a:cs typeface="Courier New"/>
              </a:rPr>
              <a:t>Vulnerable."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Identify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type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vulnerability</a:t>
            </a:r>
            <a:endParaRPr sz="2400">
              <a:latin typeface="Courier New"/>
              <a:cs typeface="Courier New"/>
            </a:endParaRPr>
          </a:p>
          <a:p>
            <a:pPr marL="697230" lvl="1" indent="-227329">
              <a:lnSpc>
                <a:spcPct val="100000"/>
              </a:lnSpc>
              <a:spcBef>
                <a:spcPts val="1920"/>
              </a:spcBef>
              <a:buSzPct val="102127"/>
              <a:buFont typeface="Arial MT"/>
              <a:buChar char="•"/>
              <a:tabLst>
                <a:tab pos="697230" algn="l"/>
              </a:tabLst>
            </a:pPr>
            <a:r>
              <a:rPr sz="3525" b="1" baseline="1182" dirty="0">
                <a:latin typeface="Courier New"/>
                <a:cs typeface="Courier New"/>
              </a:rPr>
              <a:t>Output</a:t>
            </a:r>
            <a:r>
              <a:rPr sz="2400" dirty="0">
                <a:latin typeface="Courier New"/>
                <a:cs typeface="Courier New"/>
              </a:rPr>
              <a:t>: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Dataset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with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initial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labels.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395" dirty="0"/>
              <a:t> </a:t>
            </a:r>
            <a:r>
              <a:rPr spc="-10" dirty="0"/>
              <a:t>Journey</a:t>
            </a:r>
          </a:p>
        </p:txBody>
      </p:sp>
      <p:sp>
        <p:nvSpPr>
          <p:cNvPr id="3" name="object 3"/>
          <p:cNvSpPr/>
          <p:nvPr/>
        </p:nvSpPr>
        <p:spPr>
          <a:xfrm>
            <a:off x="152398" y="1153787"/>
            <a:ext cx="8321040" cy="0"/>
          </a:xfrm>
          <a:custGeom>
            <a:avLst/>
            <a:gdLst/>
            <a:ahLst/>
            <a:cxnLst/>
            <a:rect l="l" t="t" r="r" b="b"/>
            <a:pathLst>
              <a:path w="8321040">
                <a:moveTo>
                  <a:pt x="0" y="0"/>
                </a:moveTo>
                <a:lnTo>
                  <a:pt x="8321040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3538" y="1314196"/>
            <a:ext cx="6918959" cy="3069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484" dirty="0">
                <a:latin typeface="Verdana"/>
                <a:cs typeface="Verdana"/>
              </a:rPr>
              <a:t>Dataset</a:t>
            </a:r>
            <a:r>
              <a:rPr sz="2800" spc="-245" dirty="0">
                <a:latin typeface="Verdana"/>
                <a:cs typeface="Verdana"/>
              </a:rPr>
              <a:t> </a:t>
            </a:r>
            <a:r>
              <a:rPr sz="2800" spc="290" dirty="0">
                <a:latin typeface="Verdana"/>
                <a:cs typeface="Verdana"/>
              </a:rPr>
              <a:t>labeling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455" dirty="0">
                <a:latin typeface="Verdana"/>
                <a:cs typeface="Verdana"/>
              </a:rPr>
              <a:t>Processes</a:t>
            </a:r>
            <a:endParaRPr sz="2800">
              <a:latin typeface="Verdana"/>
              <a:cs typeface="Verdana"/>
            </a:endParaRPr>
          </a:p>
          <a:p>
            <a:pPr marL="648970" indent="-636270">
              <a:lnSpc>
                <a:spcPct val="100000"/>
              </a:lnSpc>
              <a:spcBef>
                <a:spcPts val="2640"/>
              </a:spcBef>
              <a:buAutoNum type="arabicPeriod" startAt="3"/>
              <a:tabLst>
                <a:tab pos="648970" algn="l"/>
              </a:tabLst>
            </a:pPr>
            <a:r>
              <a:rPr sz="2800" spc="-10" dirty="0">
                <a:latin typeface="Courier New"/>
                <a:cs typeface="Courier New"/>
              </a:rPr>
              <a:t>Validation</a:t>
            </a:r>
            <a:endParaRPr sz="2800">
              <a:latin typeface="Courier New"/>
              <a:cs typeface="Courier New"/>
            </a:endParaRPr>
          </a:p>
          <a:p>
            <a:pPr marL="697230" lvl="1" indent="-227329">
              <a:lnSpc>
                <a:spcPct val="100000"/>
              </a:lnSpc>
              <a:spcBef>
                <a:spcPts val="2030"/>
              </a:spcBef>
              <a:buSzPct val="102127"/>
              <a:buFont typeface="Arial MT"/>
              <a:buChar char="•"/>
              <a:tabLst>
                <a:tab pos="697230" algn="l"/>
              </a:tabLst>
            </a:pPr>
            <a:r>
              <a:rPr sz="3525" b="1" baseline="1182" dirty="0">
                <a:latin typeface="Courier New"/>
                <a:cs typeface="Courier New"/>
              </a:rPr>
              <a:t>Input</a:t>
            </a:r>
            <a:r>
              <a:rPr sz="2400" dirty="0">
                <a:latin typeface="Courier New"/>
                <a:cs typeface="Courier New"/>
              </a:rPr>
              <a:t>: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Labelled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dataset.</a:t>
            </a:r>
            <a:endParaRPr sz="2400">
              <a:latin typeface="Courier New"/>
              <a:cs typeface="Courier New"/>
            </a:endParaRPr>
          </a:p>
          <a:p>
            <a:pPr marL="697230" lvl="1" indent="-227329">
              <a:lnSpc>
                <a:spcPct val="100000"/>
              </a:lnSpc>
              <a:spcBef>
                <a:spcPts val="1920"/>
              </a:spcBef>
              <a:buSzPct val="102127"/>
              <a:buFont typeface="Arial MT"/>
              <a:buChar char="•"/>
              <a:tabLst>
                <a:tab pos="697230" algn="l"/>
              </a:tabLst>
            </a:pPr>
            <a:r>
              <a:rPr sz="3525" b="1" baseline="1182" dirty="0">
                <a:latin typeface="Courier New"/>
                <a:cs typeface="Courier New"/>
              </a:rPr>
              <a:t>Task</a:t>
            </a:r>
            <a:r>
              <a:rPr sz="2400" dirty="0">
                <a:latin typeface="Courier New"/>
                <a:cs typeface="Courier New"/>
              </a:rPr>
              <a:t>: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: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Review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correct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labels.</a:t>
            </a:r>
            <a:endParaRPr sz="2400">
              <a:latin typeface="Courier New"/>
              <a:cs typeface="Courier New"/>
            </a:endParaRPr>
          </a:p>
          <a:p>
            <a:pPr marL="697230" lvl="1" indent="-227329">
              <a:lnSpc>
                <a:spcPct val="100000"/>
              </a:lnSpc>
              <a:spcBef>
                <a:spcPts val="2014"/>
              </a:spcBef>
              <a:buSzPct val="102127"/>
              <a:buFont typeface="Arial MT"/>
              <a:buChar char="•"/>
              <a:tabLst>
                <a:tab pos="697230" algn="l"/>
              </a:tabLst>
            </a:pPr>
            <a:r>
              <a:rPr sz="3525" b="1" baseline="1182" dirty="0">
                <a:latin typeface="Courier New"/>
                <a:cs typeface="Courier New"/>
              </a:rPr>
              <a:t>Output</a:t>
            </a:r>
            <a:r>
              <a:rPr sz="2400" dirty="0">
                <a:latin typeface="Courier New"/>
                <a:cs typeface="Courier New"/>
              </a:rPr>
              <a:t>: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Final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validated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dataset.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395" dirty="0"/>
              <a:t> </a:t>
            </a:r>
            <a:r>
              <a:rPr spc="-10" dirty="0"/>
              <a:t>Journey</a:t>
            </a:r>
          </a:p>
        </p:txBody>
      </p:sp>
      <p:sp>
        <p:nvSpPr>
          <p:cNvPr id="3" name="object 3"/>
          <p:cNvSpPr/>
          <p:nvPr/>
        </p:nvSpPr>
        <p:spPr>
          <a:xfrm>
            <a:off x="152398" y="1153787"/>
            <a:ext cx="8321040" cy="0"/>
          </a:xfrm>
          <a:custGeom>
            <a:avLst/>
            <a:gdLst/>
            <a:ahLst/>
            <a:cxnLst/>
            <a:rect l="l" t="t" r="r" b="b"/>
            <a:pathLst>
              <a:path w="8321040">
                <a:moveTo>
                  <a:pt x="0" y="0"/>
                </a:moveTo>
                <a:lnTo>
                  <a:pt x="8321040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758" y="1905000"/>
            <a:ext cx="9325547" cy="435133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395" dirty="0"/>
              <a:t> </a:t>
            </a:r>
            <a:r>
              <a:rPr spc="-10" dirty="0"/>
              <a:t>Journey</a:t>
            </a:r>
          </a:p>
        </p:txBody>
      </p:sp>
      <p:sp>
        <p:nvSpPr>
          <p:cNvPr id="3" name="object 3"/>
          <p:cNvSpPr/>
          <p:nvPr/>
        </p:nvSpPr>
        <p:spPr>
          <a:xfrm>
            <a:off x="152398" y="1153787"/>
            <a:ext cx="8321040" cy="0"/>
          </a:xfrm>
          <a:custGeom>
            <a:avLst/>
            <a:gdLst/>
            <a:ahLst/>
            <a:cxnLst/>
            <a:rect l="l" t="t" r="r" b="b"/>
            <a:pathLst>
              <a:path w="8321040">
                <a:moveTo>
                  <a:pt x="0" y="0"/>
                </a:moveTo>
                <a:lnTo>
                  <a:pt x="8321040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3538" y="1314196"/>
            <a:ext cx="11666220" cy="4429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580" dirty="0">
                <a:latin typeface="Verdana"/>
                <a:cs typeface="Verdana"/>
              </a:rPr>
              <a:t>New</a:t>
            </a:r>
            <a:r>
              <a:rPr sz="2800" spc="-265" dirty="0">
                <a:latin typeface="Verdana"/>
                <a:cs typeface="Verdana"/>
              </a:rPr>
              <a:t> </a:t>
            </a:r>
            <a:r>
              <a:rPr sz="2800" spc="409" dirty="0">
                <a:latin typeface="Verdana"/>
                <a:cs typeface="Verdana"/>
              </a:rPr>
              <a:t>feature</a:t>
            </a:r>
            <a:endParaRPr sz="2800">
              <a:latin typeface="Verdana"/>
              <a:cs typeface="Verdana"/>
            </a:endParaRPr>
          </a:p>
          <a:p>
            <a:pPr marL="697230" marR="735330" lvl="1" indent="-227329">
              <a:lnSpc>
                <a:spcPct val="149600"/>
              </a:lnSpc>
              <a:spcBef>
                <a:spcPts val="60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Courier New"/>
                <a:cs typeface="Courier New"/>
              </a:rPr>
              <a:t>Ok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previous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workflow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amazing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but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now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want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to 	</a:t>
            </a:r>
            <a:r>
              <a:rPr sz="2400" dirty="0">
                <a:latin typeface="Courier New"/>
                <a:cs typeface="Courier New"/>
              </a:rPr>
              <a:t>enhance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it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make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new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level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high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dataset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deliver 	</a:t>
            </a:r>
            <a:r>
              <a:rPr sz="2400" dirty="0">
                <a:latin typeface="Courier New"/>
                <a:cs typeface="Courier New"/>
              </a:rPr>
              <a:t>more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high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quality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Dataset</a:t>
            </a:r>
            <a:endParaRPr sz="2400">
              <a:latin typeface="Courier New"/>
              <a:cs typeface="Courier New"/>
            </a:endParaRPr>
          </a:p>
          <a:p>
            <a:pPr marL="697230" marR="5080" lvl="1" indent="-227329">
              <a:lnSpc>
                <a:spcPct val="149300"/>
              </a:lnSpc>
              <a:spcBef>
                <a:spcPts val="50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further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improve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dataset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quality,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we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introduce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advanced 	</a:t>
            </a:r>
            <a:r>
              <a:rPr sz="2400" dirty="0">
                <a:latin typeface="Courier New"/>
                <a:cs typeface="Courier New"/>
              </a:rPr>
              <a:t>HITL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3675" b="1" i="1" spc="-82" baseline="1133" dirty="0">
                <a:latin typeface="Courier New"/>
                <a:cs typeface="Courier New"/>
              </a:rPr>
              <a:t>(Human-in-the-</a:t>
            </a:r>
            <a:r>
              <a:rPr sz="3675" b="1" i="1" baseline="1133" dirty="0">
                <a:latin typeface="Courier New"/>
                <a:cs typeface="Courier New"/>
              </a:rPr>
              <a:t>Loop)</a:t>
            </a:r>
            <a:r>
              <a:rPr sz="3675" b="1" i="1" spc="-150" baseline="1133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enhancement</a:t>
            </a:r>
            <a:r>
              <a:rPr sz="2400" spc="-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step.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This</a:t>
            </a:r>
            <a:r>
              <a:rPr sz="2400" spc="-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ensures</a:t>
            </a:r>
            <a:r>
              <a:rPr sz="2400" spc="-6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that 	</a:t>
            </a:r>
            <a:r>
              <a:rPr sz="2400" dirty="0">
                <a:latin typeface="Courier New"/>
                <a:cs typeface="Courier New"/>
              </a:rPr>
              <a:t>ambiguous,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complex,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or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edge-</a:t>
            </a:r>
            <a:r>
              <a:rPr sz="2400" dirty="0">
                <a:latin typeface="Courier New"/>
                <a:cs typeface="Courier New"/>
              </a:rPr>
              <a:t>case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data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reviewed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by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human 	</a:t>
            </a:r>
            <a:r>
              <a:rPr sz="2400" dirty="0">
                <a:latin typeface="Courier New"/>
                <a:cs typeface="Courier New"/>
              </a:rPr>
              <a:t>experts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before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finalizing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dataset.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254" y="1149401"/>
            <a:ext cx="5049999" cy="42566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92500" y="5750221"/>
            <a:ext cx="5207000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dirty="0"/>
              <a:t>Human-in-the-</a:t>
            </a:r>
            <a:r>
              <a:rPr sz="3900" spc="-20" dirty="0"/>
              <a:t>Loop</a:t>
            </a:r>
            <a:endParaRPr sz="3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395" dirty="0"/>
              <a:t> </a:t>
            </a:r>
            <a:r>
              <a:rPr spc="-10" dirty="0"/>
              <a:t>Journey</a:t>
            </a:r>
          </a:p>
        </p:txBody>
      </p:sp>
      <p:sp>
        <p:nvSpPr>
          <p:cNvPr id="3" name="object 3"/>
          <p:cNvSpPr/>
          <p:nvPr/>
        </p:nvSpPr>
        <p:spPr>
          <a:xfrm>
            <a:off x="152398" y="1153787"/>
            <a:ext cx="8321040" cy="0"/>
          </a:xfrm>
          <a:custGeom>
            <a:avLst/>
            <a:gdLst/>
            <a:ahLst/>
            <a:cxnLst/>
            <a:rect l="l" t="t" r="r" b="b"/>
            <a:pathLst>
              <a:path w="8321040">
                <a:moveTo>
                  <a:pt x="0" y="0"/>
                </a:moveTo>
                <a:lnTo>
                  <a:pt x="8321040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238" y="1415796"/>
            <a:ext cx="276225" cy="2667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3048" y="1415796"/>
            <a:ext cx="276225" cy="2667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67838" y="3702303"/>
            <a:ext cx="254000" cy="2540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67838" y="4223511"/>
            <a:ext cx="254000" cy="2540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67838" y="4741671"/>
            <a:ext cx="254000" cy="2540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3538" y="1314196"/>
            <a:ext cx="11118215" cy="37452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9595" indent="-55689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569595" algn="l"/>
                <a:tab pos="1782445" algn="l"/>
              </a:tabLst>
            </a:pPr>
            <a:r>
              <a:rPr sz="2800" spc="245" dirty="0">
                <a:latin typeface="Verdana"/>
                <a:cs typeface="Verdana"/>
              </a:rPr>
              <a:t>ITL</a:t>
            </a:r>
            <a:r>
              <a:rPr sz="2800" spc="-270" dirty="0">
                <a:latin typeface="Verdana"/>
                <a:cs typeface="Verdana"/>
              </a:rPr>
              <a:t> </a:t>
            </a:r>
            <a:r>
              <a:rPr sz="2800" spc="-320" dirty="0">
                <a:latin typeface="Verdana"/>
                <a:cs typeface="Verdana"/>
              </a:rPr>
              <a:t>(</a:t>
            </a:r>
            <a:r>
              <a:rPr sz="2800" dirty="0">
                <a:latin typeface="Verdana"/>
                <a:cs typeface="Verdana"/>
              </a:rPr>
              <a:t>	</a:t>
            </a:r>
            <a:r>
              <a:rPr sz="2800" spc="310" dirty="0">
                <a:latin typeface="Verdana"/>
                <a:cs typeface="Verdana"/>
              </a:rPr>
              <a:t>uman-</a:t>
            </a:r>
            <a:r>
              <a:rPr sz="2800" dirty="0">
                <a:latin typeface="Verdana"/>
                <a:cs typeface="Verdana"/>
              </a:rPr>
              <a:t>in-</a:t>
            </a:r>
            <a:r>
              <a:rPr sz="2800" spc="235" dirty="0">
                <a:latin typeface="Verdana"/>
                <a:cs typeface="Verdana"/>
              </a:rPr>
              <a:t>the-</a:t>
            </a:r>
            <a:r>
              <a:rPr sz="2800" spc="320" dirty="0">
                <a:latin typeface="Verdana"/>
                <a:cs typeface="Verdana"/>
              </a:rPr>
              <a:t>Loop)</a:t>
            </a:r>
            <a:endParaRPr sz="2800">
              <a:latin typeface="Verdana"/>
              <a:cs typeface="Verdana"/>
            </a:endParaRPr>
          </a:p>
          <a:p>
            <a:pPr marL="698500" marR="5080" lvl="1" indent="-228600">
              <a:lnSpc>
                <a:spcPct val="148900"/>
              </a:lnSpc>
              <a:spcBef>
                <a:spcPts val="545"/>
              </a:spcBef>
              <a:buSzPct val="97959"/>
              <a:buFont typeface="Arial MT"/>
              <a:buChar char="•"/>
              <a:tabLst>
                <a:tab pos="698500" algn="l"/>
              </a:tabLst>
            </a:pPr>
            <a:r>
              <a:rPr sz="3675" b="1" i="1" baseline="1133" dirty="0">
                <a:latin typeface="Courier New"/>
                <a:cs typeface="Courier New"/>
              </a:rPr>
              <a:t>HITL</a:t>
            </a:r>
            <a:r>
              <a:rPr sz="3675" b="1" i="1" spc="-127" baseline="1133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hybrid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approach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where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AI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automates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most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the </a:t>
            </a:r>
            <a:r>
              <a:rPr sz="2400" dirty="0">
                <a:latin typeface="Courier New"/>
                <a:cs typeface="Courier New"/>
              </a:rPr>
              <a:t>tasks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but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incorporates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human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expertise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when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needed.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It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is </a:t>
            </a:r>
            <a:r>
              <a:rPr sz="2400" dirty="0">
                <a:latin typeface="Courier New"/>
                <a:cs typeface="Courier New"/>
              </a:rPr>
              <a:t>particularly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useful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vulnerability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labelling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because:</a:t>
            </a:r>
            <a:endParaRPr sz="2400">
              <a:latin typeface="Courier New"/>
              <a:cs typeface="Courier New"/>
            </a:endParaRPr>
          </a:p>
          <a:p>
            <a:pPr marL="1790064" marR="6576059">
              <a:lnSpc>
                <a:spcPct val="171000"/>
              </a:lnSpc>
              <a:spcBef>
                <a:spcPts val="110"/>
              </a:spcBef>
            </a:pPr>
            <a:r>
              <a:rPr sz="2000" dirty="0">
                <a:latin typeface="Courier New"/>
                <a:cs typeface="Courier New"/>
              </a:rPr>
              <a:t>Increases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Accuracy </a:t>
            </a:r>
            <a:r>
              <a:rPr sz="2000" dirty="0">
                <a:latin typeface="Courier New"/>
                <a:cs typeface="Courier New"/>
              </a:rPr>
              <a:t>Handles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Ambiguity</a:t>
            </a:r>
            <a:endParaRPr sz="2000">
              <a:latin typeface="Courier New"/>
              <a:cs typeface="Courier New"/>
            </a:endParaRPr>
          </a:p>
          <a:p>
            <a:pPr marL="1790064">
              <a:lnSpc>
                <a:spcPct val="100000"/>
              </a:lnSpc>
              <a:spcBef>
                <a:spcPts val="1680"/>
              </a:spcBef>
            </a:pPr>
            <a:r>
              <a:rPr sz="2000" dirty="0">
                <a:latin typeface="Courier New"/>
                <a:cs typeface="Courier New"/>
              </a:rPr>
              <a:t>Ensures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High-</a:t>
            </a:r>
            <a:r>
              <a:rPr sz="2000" dirty="0">
                <a:latin typeface="Courier New"/>
                <a:cs typeface="Courier New"/>
              </a:rPr>
              <a:t>Quality</a:t>
            </a:r>
            <a:r>
              <a:rPr sz="2000" spc="-20" dirty="0">
                <a:latin typeface="Courier New"/>
                <a:cs typeface="Courier New"/>
              </a:rPr>
              <a:t> Data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395" dirty="0"/>
              <a:t> </a:t>
            </a:r>
            <a:r>
              <a:rPr spc="-10" dirty="0"/>
              <a:t>Journey</a:t>
            </a:r>
          </a:p>
        </p:txBody>
      </p:sp>
      <p:sp>
        <p:nvSpPr>
          <p:cNvPr id="3" name="object 3"/>
          <p:cNvSpPr/>
          <p:nvPr/>
        </p:nvSpPr>
        <p:spPr>
          <a:xfrm>
            <a:off x="152398" y="1153787"/>
            <a:ext cx="8321040" cy="0"/>
          </a:xfrm>
          <a:custGeom>
            <a:avLst/>
            <a:gdLst/>
            <a:ahLst/>
            <a:cxnLst/>
            <a:rect l="l" t="t" r="r" b="b"/>
            <a:pathLst>
              <a:path w="8321040">
                <a:moveTo>
                  <a:pt x="0" y="0"/>
                </a:moveTo>
                <a:lnTo>
                  <a:pt x="8321040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3538" y="1314196"/>
            <a:ext cx="11301095" cy="416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484" dirty="0">
                <a:latin typeface="Verdana"/>
                <a:cs typeface="Verdana"/>
              </a:rPr>
              <a:t>Dataset</a:t>
            </a:r>
            <a:r>
              <a:rPr sz="2800" spc="-245" dirty="0">
                <a:latin typeface="Verdana"/>
                <a:cs typeface="Verdana"/>
              </a:rPr>
              <a:t> </a:t>
            </a:r>
            <a:r>
              <a:rPr sz="2800" spc="290" dirty="0">
                <a:latin typeface="Verdana"/>
                <a:cs typeface="Verdana"/>
              </a:rPr>
              <a:t>labeling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spc="455" dirty="0">
                <a:latin typeface="Verdana"/>
                <a:cs typeface="Verdana"/>
              </a:rPr>
              <a:t>Processes</a:t>
            </a:r>
            <a:endParaRPr sz="2800">
              <a:latin typeface="Verdana"/>
              <a:cs typeface="Verdana"/>
            </a:endParaRPr>
          </a:p>
          <a:p>
            <a:pPr marL="648970" indent="-636270">
              <a:lnSpc>
                <a:spcPct val="100000"/>
              </a:lnSpc>
              <a:spcBef>
                <a:spcPts val="2640"/>
              </a:spcBef>
              <a:buAutoNum type="arabicPeriod" startAt="5"/>
              <a:tabLst>
                <a:tab pos="648970" algn="l"/>
              </a:tabLst>
            </a:pPr>
            <a:r>
              <a:rPr sz="2800" spc="-10" dirty="0">
                <a:latin typeface="Courier New"/>
                <a:cs typeface="Courier New"/>
              </a:rPr>
              <a:t>Human-in-the-</a:t>
            </a:r>
            <a:r>
              <a:rPr sz="2800" dirty="0">
                <a:latin typeface="Courier New"/>
                <a:cs typeface="Courier New"/>
              </a:rPr>
              <a:t>Loop</a:t>
            </a:r>
            <a:r>
              <a:rPr sz="2800" spc="-5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(HITL)</a:t>
            </a:r>
            <a:endParaRPr sz="2800">
              <a:latin typeface="Courier New"/>
              <a:cs typeface="Courier New"/>
            </a:endParaRPr>
          </a:p>
          <a:p>
            <a:pPr marL="697230" lvl="1" indent="-227329">
              <a:lnSpc>
                <a:spcPct val="100000"/>
              </a:lnSpc>
              <a:spcBef>
                <a:spcPts val="2030"/>
              </a:spcBef>
              <a:buSzPct val="102127"/>
              <a:buFont typeface="Arial MT"/>
              <a:buChar char="•"/>
              <a:tabLst>
                <a:tab pos="697230" algn="l"/>
              </a:tabLst>
            </a:pPr>
            <a:r>
              <a:rPr sz="3525" b="1" baseline="1182" dirty="0">
                <a:latin typeface="Courier New"/>
                <a:cs typeface="Courier New"/>
              </a:rPr>
              <a:t>Input</a:t>
            </a:r>
            <a:r>
              <a:rPr sz="2400" dirty="0">
                <a:latin typeface="Courier New"/>
                <a:cs typeface="Courier New"/>
              </a:rPr>
              <a:t>: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Ambiguous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cases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flagged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by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Validation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Agent.</a:t>
            </a:r>
            <a:endParaRPr sz="2400">
              <a:latin typeface="Courier New"/>
              <a:cs typeface="Courier New"/>
            </a:endParaRPr>
          </a:p>
          <a:p>
            <a:pPr marL="696595" marR="5080" lvl="1" indent="-227329">
              <a:lnSpc>
                <a:spcPct val="151300"/>
              </a:lnSpc>
              <a:spcBef>
                <a:spcPts val="445"/>
              </a:spcBef>
              <a:buSzPct val="102127"/>
              <a:buFont typeface="Arial MT"/>
              <a:buChar char="•"/>
              <a:tabLst>
                <a:tab pos="1840864" algn="l"/>
              </a:tabLst>
            </a:pPr>
            <a:r>
              <a:rPr sz="3525" b="1" baseline="1182" dirty="0">
                <a:latin typeface="Courier New"/>
                <a:cs typeface="Courier New"/>
              </a:rPr>
              <a:t>Task</a:t>
            </a:r>
            <a:r>
              <a:rPr sz="2400" dirty="0">
                <a:latin typeface="Courier New"/>
                <a:cs typeface="Courier New"/>
              </a:rPr>
              <a:t>: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Send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ambiguous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cases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human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annotators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review. 	</a:t>
            </a:r>
            <a:r>
              <a:rPr sz="2400" dirty="0">
                <a:latin typeface="Courier New"/>
                <a:cs typeface="Courier New"/>
              </a:rPr>
              <a:t>Retrieve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human-</a:t>
            </a:r>
            <a:r>
              <a:rPr sz="2400" dirty="0">
                <a:latin typeface="Courier New"/>
                <a:cs typeface="Courier New"/>
              </a:rPr>
              <a:t>validated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labels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integrate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them 	</a:t>
            </a:r>
            <a:r>
              <a:rPr sz="2400" dirty="0">
                <a:latin typeface="Courier New"/>
                <a:cs typeface="Courier New"/>
              </a:rPr>
              <a:t>into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dataset.</a:t>
            </a:r>
            <a:endParaRPr sz="2400">
              <a:latin typeface="Courier New"/>
              <a:cs typeface="Courier New"/>
            </a:endParaRPr>
          </a:p>
          <a:p>
            <a:pPr marL="697230" lvl="1" indent="-227329">
              <a:lnSpc>
                <a:spcPct val="100000"/>
              </a:lnSpc>
              <a:spcBef>
                <a:spcPts val="1920"/>
              </a:spcBef>
              <a:buSzPct val="102127"/>
              <a:buFont typeface="Arial MT"/>
              <a:buChar char="•"/>
              <a:tabLst>
                <a:tab pos="697230" algn="l"/>
              </a:tabLst>
            </a:pPr>
            <a:r>
              <a:rPr sz="3525" b="1" baseline="1182" dirty="0">
                <a:latin typeface="Courier New"/>
                <a:cs typeface="Courier New"/>
              </a:rPr>
              <a:t>Output</a:t>
            </a:r>
            <a:r>
              <a:rPr sz="2400" dirty="0">
                <a:latin typeface="Courier New"/>
                <a:cs typeface="Courier New"/>
              </a:rPr>
              <a:t>: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Dataset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with</a:t>
            </a:r>
            <a:r>
              <a:rPr sz="2400" spc="-10" dirty="0">
                <a:latin typeface="Courier New"/>
                <a:cs typeface="Courier New"/>
              </a:rPr>
              <a:t> human-</a:t>
            </a:r>
            <a:r>
              <a:rPr sz="2400" dirty="0">
                <a:latin typeface="Courier New"/>
                <a:cs typeface="Courier New"/>
              </a:rPr>
              <a:t>validated</a:t>
            </a:r>
            <a:r>
              <a:rPr sz="2400" spc="-10" dirty="0">
                <a:latin typeface="Courier New"/>
                <a:cs typeface="Courier New"/>
              </a:rPr>
              <a:t> labels.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1931" y="993660"/>
            <a:ext cx="9325538" cy="487067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1747" y="740874"/>
            <a:ext cx="7703955" cy="537625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8415" y="2935731"/>
            <a:ext cx="15455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spc="245" dirty="0">
                <a:latin typeface="Verdana"/>
                <a:cs typeface="Verdana"/>
              </a:rPr>
              <a:t>ITL</a:t>
            </a:r>
            <a:r>
              <a:rPr sz="2800" b="0" spc="-265" dirty="0">
                <a:latin typeface="Verdana"/>
                <a:cs typeface="Verdana"/>
              </a:rPr>
              <a:t> </a:t>
            </a:r>
            <a:r>
              <a:rPr sz="2800" b="0" spc="160" dirty="0">
                <a:latin typeface="Verdana"/>
                <a:cs typeface="Verdana"/>
              </a:rPr>
              <a:t>GUI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905" y="3037332"/>
            <a:ext cx="276225" cy="2667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9805" y="2728468"/>
            <a:ext cx="1598295" cy="1293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8600"/>
              </a:lnSpc>
              <a:spcBef>
                <a:spcPts val="100"/>
              </a:spcBef>
            </a:pPr>
            <a:r>
              <a:rPr sz="2800" b="0" spc="290" dirty="0">
                <a:latin typeface="Verdana"/>
                <a:cs typeface="Verdana"/>
              </a:rPr>
              <a:t>Final </a:t>
            </a:r>
            <a:r>
              <a:rPr sz="2800" b="0" spc="425" dirty="0">
                <a:latin typeface="Verdana"/>
                <a:cs typeface="Verdana"/>
              </a:rPr>
              <a:t>Output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3958" y="907185"/>
            <a:ext cx="9186895" cy="505939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9821" y="2237739"/>
            <a:ext cx="2530475" cy="194310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50400"/>
              </a:lnSpc>
              <a:spcBef>
                <a:spcPts val="35"/>
              </a:spcBef>
            </a:pPr>
            <a:r>
              <a:rPr sz="2800" spc="495" dirty="0">
                <a:latin typeface="Verdana"/>
                <a:cs typeface="Verdana"/>
              </a:rPr>
              <a:t>Accuracy </a:t>
            </a:r>
            <a:r>
              <a:rPr sz="2800" spc="370" dirty="0">
                <a:latin typeface="Verdana"/>
                <a:cs typeface="Verdana"/>
              </a:rPr>
              <a:t>Calculation </a:t>
            </a:r>
            <a:r>
              <a:rPr sz="2800" spc="459" dirty="0">
                <a:latin typeface="Verdana"/>
                <a:cs typeface="Verdana"/>
              </a:rPr>
              <a:t>Process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81400" y="1842847"/>
            <a:ext cx="4908550" cy="2978785"/>
            <a:chOff x="3581400" y="1842847"/>
            <a:chExt cx="4908550" cy="2978785"/>
          </a:xfrm>
        </p:grpSpPr>
        <p:sp>
          <p:nvSpPr>
            <p:cNvPr id="4" name="object 4"/>
            <p:cNvSpPr/>
            <p:nvPr/>
          </p:nvSpPr>
          <p:spPr>
            <a:xfrm>
              <a:off x="3581400" y="1842847"/>
              <a:ext cx="3691890" cy="840740"/>
            </a:xfrm>
            <a:custGeom>
              <a:avLst/>
              <a:gdLst/>
              <a:ahLst/>
              <a:cxnLst/>
              <a:rect l="l" t="t" r="r" b="b"/>
              <a:pathLst>
                <a:path w="3691890" h="840739">
                  <a:moveTo>
                    <a:pt x="3691313" y="0"/>
                  </a:moveTo>
                  <a:lnTo>
                    <a:pt x="3186191" y="0"/>
                  </a:lnTo>
                  <a:lnTo>
                    <a:pt x="0" y="0"/>
                  </a:lnTo>
                  <a:lnTo>
                    <a:pt x="316491" y="840599"/>
                  </a:lnTo>
                  <a:lnTo>
                    <a:pt x="3374821" y="840599"/>
                  </a:lnTo>
                  <a:lnTo>
                    <a:pt x="3691313" y="0"/>
                  </a:lnTo>
                  <a:close/>
                </a:path>
              </a:pathLst>
            </a:custGeom>
            <a:solidFill>
              <a:srgbClr val="D1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42656" y="2528628"/>
              <a:ext cx="3164840" cy="966469"/>
            </a:xfrm>
            <a:custGeom>
              <a:avLst/>
              <a:gdLst/>
              <a:ahLst/>
              <a:cxnLst/>
              <a:rect l="l" t="t" r="r" b="b"/>
              <a:pathLst>
                <a:path w="3164840" h="966470">
                  <a:moveTo>
                    <a:pt x="3164334" y="0"/>
                  </a:moveTo>
                  <a:lnTo>
                    <a:pt x="2716782" y="0"/>
                  </a:lnTo>
                  <a:lnTo>
                    <a:pt x="0" y="0"/>
                  </a:lnTo>
                  <a:lnTo>
                    <a:pt x="327437" y="966369"/>
                  </a:lnTo>
                  <a:lnTo>
                    <a:pt x="2836895" y="966369"/>
                  </a:lnTo>
                  <a:lnTo>
                    <a:pt x="3164334" y="0"/>
                  </a:lnTo>
                  <a:close/>
                </a:path>
              </a:pathLst>
            </a:custGeom>
            <a:solidFill>
              <a:srgbClr val="C8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42656" y="2528628"/>
              <a:ext cx="3164840" cy="966469"/>
            </a:xfrm>
            <a:custGeom>
              <a:avLst/>
              <a:gdLst/>
              <a:ahLst/>
              <a:cxnLst/>
              <a:rect l="l" t="t" r="r" b="b"/>
              <a:pathLst>
                <a:path w="3164840" h="966470">
                  <a:moveTo>
                    <a:pt x="2716782" y="0"/>
                  </a:moveTo>
                  <a:lnTo>
                    <a:pt x="3164334" y="0"/>
                  </a:lnTo>
                  <a:lnTo>
                    <a:pt x="2836895" y="966370"/>
                  </a:lnTo>
                  <a:lnTo>
                    <a:pt x="327437" y="966370"/>
                  </a:lnTo>
                  <a:lnTo>
                    <a:pt x="0" y="0"/>
                  </a:lnTo>
                  <a:lnTo>
                    <a:pt x="2716782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85253" y="3214465"/>
              <a:ext cx="2656205" cy="914400"/>
            </a:xfrm>
            <a:custGeom>
              <a:avLst/>
              <a:gdLst/>
              <a:ahLst/>
              <a:cxnLst/>
              <a:rect l="l" t="t" r="r" b="b"/>
              <a:pathLst>
                <a:path w="2656204" h="914400">
                  <a:moveTo>
                    <a:pt x="2656025" y="0"/>
                  </a:moveTo>
                  <a:lnTo>
                    <a:pt x="2013470" y="0"/>
                  </a:lnTo>
                  <a:lnTo>
                    <a:pt x="0" y="0"/>
                  </a:lnTo>
                  <a:lnTo>
                    <a:pt x="346533" y="913944"/>
                  </a:lnTo>
                  <a:lnTo>
                    <a:pt x="2309491" y="913944"/>
                  </a:lnTo>
                  <a:lnTo>
                    <a:pt x="2656025" y="0"/>
                  </a:lnTo>
                  <a:close/>
                </a:path>
              </a:pathLst>
            </a:custGeom>
            <a:solidFill>
              <a:srgbClr val="E9FF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85253" y="3214465"/>
              <a:ext cx="2656205" cy="914400"/>
            </a:xfrm>
            <a:custGeom>
              <a:avLst/>
              <a:gdLst/>
              <a:ahLst/>
              <a:cxnLst/>
              <a:rect l="l" t="t" r="r" b="b"/>
              <a:pathLst>
                <a:path w="2656204" h="914400">
                  <a:moveTo>
                    <a:pt x="2013471" y="0"/>
                  </a:moveTo>
                  <a:lnTo>
                    <a:pt x="2656026" y="0"/>
                  </a:lnTo>
                  <a:lnTo>
                    <a:pt x="2309492" y="913945"/>
                  </a:lnTo>
                  <a:lnTo>
                    <a:pt x="346533" y="913945"/>
                  </a:lnTo>
                  <a:lnTo>
                    <a:pt x="0" y="0"/>
                  </a:lnTo>
                  <a:lnTo>
                    <a:pt x="2013471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46510" y="3900227"/>
              <a:ext cx="2129790" cy="914400"/>
            </a:xfrm>
            <a:custGeom>
              <a:avLst/>
              <a:gdLst/>
              <a:ahLst/>
              <a:cxnLst/>
              <a:rect l="l" t="t" r="r" b="b"/>
              <a:pathLst>
                <a:path w="2129790" h="914400">
                  <a:moveTo>
                    <a:pt x="2129302" y="0"/>
                  </a:moveTo>
                  <a:lnTo>
                    <a:pt x="1753543" y="0"/>
                  </a:lnTo>
                  <a:lnTo>
                    <a:pt x="0" y="0"/>
                  </a:lnTo>
                  <a:lnTo>
                    <a:pt x="375758" y="913945"/>
                  </a:lnTo>
                  <a:lnTo>
                    <a:pt x="1753543" y="913945"/>
                  </a:lnTo>
                  <a:lnTo>
                    <a:pt x="2129302" y="0"/>
                  </a:lnTo>
                  <a:close/>
                </a:path>
              </a:pathLst>
            </a:custGeom>
            <a:solidFill>
              <a:srgbClr val="FFF8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46510" y="3900227"/>
              <a:ext cx="2129790" cy="914400"/>
            </a:xfrm>
            <a:custGeom>
              <a:avLst/>
              <a:gdLst/>
              <a:ahLst/>
              <a:cxnLst/>
              <a:rect l="l" t="t" r="r" b="b"/>
              <a:pathLst>
                <a:path w="2129790" h="914400">
                  <a:moveTo>
                    <a:pt x="1753544" y="0"/>
                  </a:moveTo>
                  <a:lnTo>
                    <a:pt x="2129303" y="0"/>
                  </a:lnTo>
                  <a:lnTo>
                    <a:pt x="1753544" y="913945"/>
                  </a:lnTo>
                  <a:lnTo>
                    <a:pt x="375759" y="913945"/>
                  </a:lnTo>
                  <a:lnTo>
                    <a:pt x="0" y="0"/>
                  </a:lnTo>
                  <a:lnTo>
                    <a:pt x="1753544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77475" y="2180794"/>
              <a:ext cx="1162685" cy="0"/>
            </a:xfrm>
            <a:custGeom>
              <a:avLst/>
              <a:gdLst/>
              <a:ahLst/>
              <a:cxnLst/>
              <a:rect l="l" t="t" r="r" b="b"/>
              <a:pathLst>
                <a:path w="1162684">
                  <a:moveTo>
                    <a:pt x="1162526" y="0"/>
                  </a:moveTo>
                  <a:lnTo>
                    <a:pt x="0" y="0"/>
                  </a:lnTo>
                </a:path>
              </a:pathLst>
            </a:custGeom>
            <a:ln w="14287">
              <a:solidFill>
                <a:srgbClr val="A3A3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72713" y="2118881"/>
              <a:ext cx="62230" cy="123825"/>
            </a:xfrm>
            <a:custGeom>
              <a:avLst/>
              <a:gdLst/>
              <a:ahLst/>
              <a:cxnLst/>
              <a:rect l="l" t="t" r="r" b="b"/>
              <a:pathLst>
                <a:path w="62229" h="123825">
                  <a:moveTo>
                    <a:pt x="61912" y="123825"/>
                  </a:moveTo>
                  <a:lnTo>
                    <a:pt x="0" y="61912"/>
                  </a:lnTo>
                  <a:lnTo>
                    <a:pt x="61912" y="0"/>
                  </a:lnTo>
                </a:path>
              </a:pathLst>
            </a:custGeom>
            <a:ln w="14287">
              <a:solidFill>
                <a:srgbClr val="A3A3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041600" y="2880634"/>
              <a:ext cx="1448435" cy="0"/>
            </a:xfrm>
            <a:custGeom>
              <a:avLst/>
              <a:gdLst/>
              <a:ahLst/>
              <a:cxnLst/>
              <a:rect l="l" t="t" r="r" b="b"/>
              <a:pathLst>
                <a:path w="1448434">
                  <a:moveTo>
                    <a:pt x="1448276" y="0"/>
                  </a:moveTo>
                  <a:lnTo>
                    <a:pt x="0" y="0"/>
                  </a:lnTo>
                </a:path>
              </a:pathLst>
            </a:custGeom>
            <a:ln w="14287">
              <a:solidFill>
                <a:srgbClr val="A3A3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36836" y="2818721"/>
              <a:ext cx="62230" cy="123825"/>
            </a:xfrm>
            <a:custGeom>
              <a:avLst/>
              <a:gdLst/>
              <a:ahLst/>
              <a:cxnLst/>
              <a:rect l="l" t="t" r="r" b="b"/>
              <a:pathLst>
                <a:path w="62229" h="123825">
                  <a:moveTo>
                    <a:pt x="61912" y="123825"/>
                  </a:moveTo>
                  <a:lnTo>
                    <a:pt x="0" y="61912"/>
                  </a:lnTo>
                  <a:lnTo>
                    <a:pt x="61912" y="0"/>
                  </a:lnTo>
                </a:path>
              </a:pathLst>
            </a:custGeom>
            <a:ln w="14287">
              <a:solidFill>
                <a:srgbClr val="A3A3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741830" y="3556910"/>
              <a:ext cx="1734185" cy="0"/>
            </a:xfrm>
            <a:custGeom>
              <a:avLst/>
              <a:gdLst/>
              <a:ahLst/>
              <a:cxnLst/>
              <a:rect l="l" t="t" r="r" b="b"/>
              <a:pathLst>
                <a:path w="1734184">
                  <a:moveTo>
                    <a:pt x="0" y="0"/>
                  </a:moveTo>
                  <a:lnTo>
                    <a:pt x="1734026" y="0"/>
                  </a:lnTo>
                </a:path>
              </a:pathLst>
            </a:custGeom>
            <a:ln w="14287">
              <a:solidFill>
                <a:srgbClr val="A3A3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37068" y="3494998"/>
              <a:ext cx="62230" cy="123825"/>
            </a:xfrm>
            <a:custGeom>
              <a:avLst/>
              <a:gdLst/>
              <a:ahLst/>
              <a:cxnLst/>
              <a:rect l="l" t="t" r="r" b="b"/>
              <a:pathLst>
                <a:path w="62229" h="123825">
                  <a:moveTo>
                    <a:pt x="61912" y="123825"/>
                  </a:moveTo>
                  <a:lnTo>
                    <a:pt x="0" y="61912"/>
                  </a:lnTo>
                  <a:lnTo>
                    <a:pt x="61912" y="0"/>
                  </a:lnTo>
                </a:path>
              </a:pathLst>
            </a:custGeom>
            <a:ln w="14287">
              <a:solidFill>
                <a:srgbClr val="A3A3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33468" y="4395704"/>
              <a:ext cx="2019935" cy="0"/>
            </a:xfrm>
            <a:custGeom>
              <a:avLst/>
              <a:gdLst/>
              <a:ahLst/>
              <a:cxnLst/>
              <a:rect l="l" t="t" r="r" b="b"/>
              <a:pathLst>
                <a:path w="2019934">
                  <a:moveTo>
                    <a:pt x="0" y="0"/>
                  </a:moveTo>
                  <a:lnTo>
                    <a:pt x="2019776" y="0"/>
                  </a:lnTo>
                </a:path>
              </a:pathLst>
            </a:custGeom>
            <a:ln w="14287">
              <a:solidFill>
                <a:srgbClr val="A3A3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28705" y="4333792"/>
              <a:ext cx="62230" cy="123825"/>
            </a:xfrm>
            <a:custGeom>
              <a:avLst/>
              <a:gdLst/>
              <a:ahLst/>
              <a:cxnLst/>
              <a:rect l="l" t="t" r="r" b="b"/>
              <a:pathLst>
                <a:path w="62229" h="123825">
                  <a:moveTo>
                    <a:pt x="61912" y="123825"/>
                  </a:moveTo>
                  <a:lnTo>
                    <a:pt x="0" y="61912"/>
                  </a:lnTo>
                  <a:lnTo>
                    <a:pt x="61912" y="0"/>
                  </a:lnTo>
                </a:path>
              </a:pathLst>
            </a:custGeom>
            <a:ln w="14287">
              <a:solidFill>
                <a:srgbClr val="A3A3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20410" y="2683446"/>
              <a:ext cx="612775" cy="349250"/>
            </a:xfrm>
            <a:custGeom>
              <a:avLst/>
              <a:gdLst/>
              <a:ahLst/>
              <a:cxnLst/>
              <a:rect l="l" t="t" r="r" b="b"/>
              <a:pathLst>
                <a:path w="612775" h="349250">
                  <a:moveTo>
                    <a:pt x="21880" y="275394"/>
                  </a:moveTo>
                  <a:lnTo>
                    <a:pt x="590847" y="275394"/>
                  </a:lnTo>
                  <a:lnTo>
                    <a:pt x="612732" y="275394"/>
                  </a:lnTo>
                  <a:lnTo>
                    <a:pt x="612732" y="284574"/>
                  </a:lnTo>
                  <a:lnTo>
                    <a:pt x="612732" y="339652"/>
                  </a:lnTo>
                  <a:lnTo>
                    <a:pt x="612732" y="348833"/>
                  </a:lnTo>
                  <a:lnTo>
                    <a:pt x="590847" y="348833"/>
                  </a:lnTo>
                  <a:lnTo>
                    <a:pt x="21880" y="348833"/>
                  </a:lnTo>
                  <a:lnTo>
                    <a:pt x="0" y="348833"/>
                  </a:lnTo>
                  <a:lnTo>
                    <a:pt x="0" y="339652"/>
                  </a:lnTo>
                  <a:lnTo>
                    <a:pt x="0" y="284574"/>
                  </a:lnTo>
                  <a:lnTo>
                    <a:pt x="0" y="275394"/>
                  </a:lnTo>
                  <a:lnTo>
                    <a:pt x="21880" y="275394"/>
                  </a:lnTo>
                </a:path>
                <a:path w="612775" h="349250">
                  <a:moveTo>
                    <a:pt x="109414" y="0"/>
                  </a:moveTo>
                  <a:lnTo>
                    <a:pt x="503314" y="0"/>
                  </a:lnTo>
                  <a:lnTo>
                    <a:pt x="525198" y="0"/>
                  </a:lnTo>
                  <a:lnTo>
                    <a:pt x="525198" y="9178"/>
                  </a:lnTo>
                  <a:lnTo>
                    <a:pt x="525198" y="64258"/>
                  </a:lnTo>
                  <a:lnTo>
                    <a:pt x="525198" y="73438"/>
                  </a:lnTo>
                  <a:lnTo>
                    <a:pt x="503314" y="73438"/>
                  </a:lnTo>
                  <a:lnTo>
                    <a:pt x="109414" y="73438"/>
                  </a:lnTo>
                  <a:lnTo>
                    <a:pt x="87533" y="73438"/>
                  </a:lnTo>
                  <a:lnTo>
                    <a:pt x="87533" y="64258"/>
                  </a:lnTo>
                  <a:lnTo>
                    <a:pt x="87533" y="9178"/>
                  </a:lnTo>
                  <a:lnTo>
                    <a:pt x="87533" y="0"/>
                  </a:lnTo>
                  <a:lnTo>
                    <a:pt x="109414" y="0"/>
                  </a:lnTo>
                </a:path>
                <a:path w="612775" h="349250">
                  <a:moveTo>
                    <a:pt x="393897" y="201955"/>
                  </a:moveTo>
                  <a:lnTo>
                    <a:pt x="306364" y="238675"/>
                  </a:lnTo>
                  <a:lnTo>
                    <a:pt x="218831" y="201955"/>
                  </a:lnTo>
                </a:path>
                <a:path w="612775" h="349250">
                  <a:moveTo>
                    <a:pt x="218831" y="146877"/>
                  </a:moveTo>
                  <a:lnTo>
                    <a:pt x="306364" y="110158"/>
                  </a:lnTo>
                  <a:lnTo>
                    <a:pt x="393897" y="146877"/>
                  </a:lnTo>
                </a:path>
              </a:pathLst>
            </a:custGeom>
            <a:ln w="14287">
              <a:solidFill>
                <a:srgbClr val="3CC5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9232" y="2713024"/>
              <a:ext cx="175260" cy="290195"/>
            </a:xfrm>
            <a:custGeom>
              <a:avLst/>
              <a:gdLst/>
              <a:ahLst/>
              <a:cxnLst/>
              <a:rect l="l" t="t" r="r" b="b"/>
              <a:pathLst>
                <a:path w="175260" h="290194">
                  <a:moveTo>
                    <a:pt x="175069" y="275399"/>
                  </a:moveTo>
                  <a:lnTo>
                    <a:pt x="0" y="275399"/>
                  </a:lnTo>
                  <a:lnTo>
                    <a:pt x="0" y="289687"/>
                  </a:lnTo>
                  <a:lnTo>
                    <a:pt x="175069" y="289687"/>
                  </a:lnTo>
                  <a:lnTo>
                    <a:pt x="175069" y="275399"/>
                  </a:lnTo>
                  <a:close/>
                </a:path>
                <a:path w="175260" h="290194">
                  <a:moveTo>
                    <a:pt x="175069" y="0"/>
                  </a:moveTo>
                  <a:lnTo>
                    <a:pt x="0" y="0"/>
                  </a:lnTo>
                  <a:lnTo>
                    <a:pt x="0" y="14287"/>
                  </a:lnTo>
                  <a:lnTo>
                    <a:pt x="175069" y="14287"/>
                  </a:lnTo>
                  <a:lnTo>
                    <a:pt x="175069" y="0"/>
                  </a:lnTo>
                  <a:close/>
                </a:path>
              </a:pathLst>
            </a:custGeom>
            <a:solidFill>
              <a:srgbClr val="3CC5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35355" y="1958713"/>
              <a:ext cx="612775" cy="444500"/>
            </a:xfrm>
            <a:custGeom>
              <a:avLst/>
              <a:gdLst/>
              <a:ahLst/>
              <a:cxnLst/>
              <a:rect l="l" t="t" r="r" b="b"/>
              <a:pathLst>
                <a:path w="612775" h="444500">
                  <a:moveTo>
                    <a:pt x="191477" y="444163"/>
                  </a:moveTo>
                  <a:lnTo>
                    <a:pt x="0" y="444163"/>
                  </a:lnTo>
                  <a:lnTo>
                    <a:pt x="0" y="0"/>
                  </a:lnTo>
                  <a:lnTo>
                    <a:pt x="191477" y="0"/>
                  </a:lnTo>
                  <a:lnTo>
                    <a:pt x="191477" y="444163"/>
                  </a:lnTo>
                  <a:close/>
                </a:path>
                <a:path w="612775" h="444500">
                  <a:moveTo>
                    <a:pt x="191477" y="148054"/>
                  </a:moveTo>
                  <a:lnTo>
                    <a:pt x="0" y="148054"/>
                  </a:lnTo>
                </a:path>
                <a:path w="612775" h="444500">
                  <a:moveTo>
                    <a:pt x="0" y="296108"/>
                  </a:moveTo>
                  <a:lnTo>
                    <a:pt x="191477" y="296108"/>
                  </a:lnTo>
                </a:path>
                <a:path w="612775" h="444500">
                  <a:moveTo>
                    <a:pt x="261228" y="222081"/>
                  </a:moveTo>
                  <a:lnTo>
                    <a:pt x="367911" y="222081"/>
                  </a:lnTo>
                </a:path>
                <a:path w="612775" h="444500">
                  <a:moveTo>
                    <a:pt x="304995" y="176677"/>
                  </a:moveTo>
                  <a:lnTo>
                    <a:pt x="367911" y="222081"/>
                  </a:lnTo>
                  <a:lnTo>
                    <a:pt x="304995" y="267484"/>
                  </a:lnTo>
                </a:path>
                <a:path w="612775" h="444500">
                  <a:moveTo>
                    <a:pt x="612732" y="429358"/>
                  </a:moveTo>
                  <a:lnTo>
                    <a:pt x="434931" y="429358"/>
                  </a:lnTo>
                  <a:lnTo>
                    <a:pt x="434931" y="14804"/>
                  </a:lnTo>
                  <a:lnTo>
                    <a:pt x="612732" y="14804"/>
                  </a:lnTo>
                </a:path>
                <a:path w="612775" h="444500">
                  <a:moveTo>
                    <a:pt x="612732" y="103637"/>
                  </a:moveTo>
                  <a:lnTo>
                    <a:pt x="448607" y="103637"/>
                  </a:lnTo>
                </a:path>
                <a:path w="612775" h="444500">
                  <a:moveTo>
                    <a:pt x="612732" y="271433"/>
                  </a:moveTo>
                  <a:lnTo>
                    <a:pt x="571701" y="271433"/>
                  </a:lnTo>
                </a:path>
                <a:path w="612775" h="444500">
                  <a:moveTo>
                    <a:pt x="530670" y="350395"/>
                  </a:moveTo>
                  <a:lnTo>
                    <a:pt x="612732" y="350395"/>
                  </a:lnTo>
                </a:path>
                <a:path w="612775" h="444500">
                  <a:moveTo>
                    <a:pt x="612732" y="192470"/>
                  </a:moveTo>
                  <a:lnTo>
                    <a:pt x="530670" y="192470"/>
                  </a:lnTo>
                </a:path>
              </a:pathLst>
            </a:custGeom>
            <a:ln w="14287">
              <a:solidFill>
                <a:srgbClr val="1EAB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40238" y="4509618"/>
              <a:ext cx="403225" cy="0"/>
            </a:xfrm>
            <a:custGeom>
              <a:avLst/>
              <a:gdLst/>
              <a:ahLst/>
              <a:cxnLst/>
              <a:rect l="l" t="t" r="r" b="b"/>
              <a:pathLst>
                <a:path w="403225">
                  <a:moveTo>
                    <a:pt x="402964" y="0"/>
                  </a:moveTo>
                  <a:lnTo>
                    <a:pt x="0" y="0"/>
                  </a:lnTo>
                </a:path>
              </a:pathLst>
            </a:custGeom>
            <a:ln w="14287">
              <a:solidFill>
                <a:srgbClr val="E0CB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74873" y="4229147"/>
              <a:ext cx="115027" cy="24205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320831" y="4099627"/>
              <a:ext cx="100965" cy="364490"/>
            </a:xfrm>
            <a:custGeom>
              <a:avLst/>
              <a:gdLst/>
              <a:ahLst/>
              <a:cxnLst/>
              <a:rect l="l" t="t" r="r" b="b"/>
              <a:pathLst>
                <a:path w="100964" h="364489">
                  <a:moveTo>
                    <a:pt x="0" y="341658"/>
                  </a:moveTo>
                  <a:lnTo>
                    <a:pt x="0" y="22776"/>
                  </a:lnTo>
                  <a:lnTo>
                    <a:pt x="314" y="19217"/>
                  </a:lnTo>
                  <a:lnTo>
                    <a:pt x="2518" y="11388"/>
                  </a:lnTo>
                  <a:lnTo>
                    <a:pt x="8499" y="3558"/>
                  </a:lnTo>
                  <a:lnTo>
                    <a:pt x="20147" y="0"/>
                  </a:lnTo>
                  <a:lnTo>
                    <a:pt x="80592" y="0"/>
                  </a:lnTo>
                  <a:lnTo>
                    <a:pt x="83740" y="355"/>
                  </a:lnTo>
                  <a:lnTo>
                    <a:pt x="90666" y="2847"/>
                  </a:lnTo>
                  <a:lnTo>
                    <a:pt x="97592" y="9608"/>
                  </a:lnTo>
                  <a:lnTo>
                    <a:pt x="100740" y="22776"/>
                  </a:lnTo>
                  <a:lnTo>
                    <a:pt x="100740" y="341658"/>
                  </a:lnTo>
                  <a:lnTo>
                    <a:pt x="100425" y="345217"/>
                  </a:lnTo>
                  <a:lnTo>
                    <a:pt x="98221" y="353047"/>
                  </a:lnTo>
                  <a:lnTo>
                    <a:pt x="92240" y="360877"/>
                  </a:lnTo>
                  <a:lnTo>
                    <a:pt x="80592" y="364436"/>
                  </a:lnTo>
                  <a:lnTo>
                    <a:pt x="20147" y="364436"/>
                  </a:lnTo>
                  <a:lnTo>
                    <a:pt x="16999" y="364080"/>
                  </a:lnTo>
                  <a:lnTo>
                    <a:pt x="10073" y="361589"/>
                  </a:lnTo>
                  <a:lnTo>
                    <a:pt x="3148" y="354826"/>
                  </a:lnTo>
                  <a:lnTo>
                    <a:pt x="0" y="341658"/>
                  </a:lnTo>
                </a:path>
              </a:pathLst>
            </a:custGeom>
            <a:ln w="14287">
              <a:solidFill>
                <a:srgbClr val="E0CB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65249" y="3479416"/>
              <a:ext cx="162894" cy="12569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120410" y="3349969"/>
              <a:ext cx="581660" cy="436245"/>
            </a:xfrm>
            <a:custGeom>
              <a:avLst/>
              <a:gdLst/>
              <a:ahLst/>
              <a:cxnLst/>
              <a:rect l="l" t="t" r="r" b="b"/>
              <a:pathLst>
                <a:path w="581660" h="436245">
                  <a:moveTo>
                    <a:pt x="400590" y="136599"/>
                  </a:moveTo>
                  <a:lnTo>
                    <a:pt x="378904" y="122158"/>
                  </a:lnTo>
                  <a:lnTo>
                    <a:pt x="353100" y="111168"/>
                  </a:lnTo>
                  <a:lnTo>
                    <a:pt x="323903" y="104175"/>
                  </a:lnTo>
                  <a:lnTo>
                    <a:pt x="292042" y="101723"/>
                  </a:lnTo>
                  <a:lnTo>
                    <a:pt x="243165" y="107675"/>
                  </a:lnTo>
                  <a:lnTo>
                    <a:pt x="200615" y="124229"/>
                  </a:lnTo>
                  <a:lnTo>
                    <a:pt x="166997" y="149434"/>
                  </a:lnTo>
                  <a:lnTo>
                    <a:pt x="144915" y="181334"/>
                  </a:lnTo>
                  <a:lnTo>
                    <a:pt x="136976" y="217978"/>
                  </a:lnTo>
                  <a:lnTo>
                    <a:pt x="142064" y="247284"/>
                  </a:lnTo>
                  <a:lnTo>
                    <a:pt x="156359" y="273684"/>
                  </a:lnTo>
                  <a:lnTo>
                    <a:pt x="178408" y="296450"/>
                  </a:lnTo>
                  <a:lnTo>
                    <a:pt x="206756" y="314857"/>
                  </a:lnTo>
                </a:path>
                <a:path w="581660" h="436245">
                  <a:moveTo>
                    <a:pt x="441941" y="241229"/>
                  </a:moveTo>
                  <a:lnTo>
                    <a:pt x="444526" y="233479"/>
                  </a:lnTo>
                  <a:lnTo>
                    <a:pt x="444526" y="225728"/>
                  </a:lnTo>
                  <a:lnTo>
                    <a:pt x="444526" y="217978"/>
                  </a:lnTo>
                </a:path>
                <a:path w="581660" h="436245">
                  <a:moveTo>
                    <a:pt x="289458" y="334225"/>
                  </a:moveTo>
                  <a:lnTo>
                    <a:pt x="322854" y="331743"/>
                  </a:lnTo>
                  <a:lnTo>
                    <a:pt x="353100" y="324538"/>
                  </a:lnTo>
                  <a:lnTo>
                    <a:pt x="379954" y="312973"/>
                  </a:lnTo>
                  <a:lnTo>
                    <a:pt x="403175" y="297411"/>
                  </a:lnTo>
                </a:path>
                <a:path w="581660" h="436245">
                  <a:moveTo>
                    <a:pt x="510429" y="343922"/>
                  </a:moveTo>
                  <a:lnTo>
                    <a:pt x="506350" y="358968"/>
                  </a:lnTo>
                  <a:lnTo>
                    <a:pt x="495245" y="371290"/>
                  </a:lnTo>
                  <a:lnTo>
                    <a:pt x="478810" y="379616"/>
                  </a:lnTo>
                  <a:lnTo>
                    <a:pt x="458740" y="382674"/>
                  </a:lnTo>
                  <a:lnTo>
                    <a:pt x="122760" y="382674"/>
                  </a:lnTo>
                  <a:lnTo>
                    <a:pt x="102690" y="379616"/>
                  </a:lnTo>
                  <a:lnTo>
                    <a:pt x="86255" y="371290"/>
                  </a:lnTo>
                  <a:lnTo>
                    <a:pt x="75150" y="358968"/>
                  </a:lnTo>
                  <a:lnTo>
                    <a:pt x="71071" y="343922"/>
                  </a:lnTo>
                  <a:lnTo>
                    <a:pt x="71071" y="92034"/>
                  </a:lnTo>
                  <a:lnTo>
                    <a:pt x="75150" y="76988"/>
                  </a:lnTo>
                  <a:lnTo>
                    <a:pt x="86255" y="64666"/>
                  </a:lnTo>
                  <a:lnTo>
                    <a:pt x="102690" y="56340"/>
                  </a:lnTo>
                  <a:lnTo>
                    <a:pt x="122760" y="53282"/>
                  </a:lnTo>
                  <a:lnTo>
                    <a:pt x="458740" y="53282"/>
                  </a:lnTo>
                  <a:lnTo>
                    <a:pt x="478810" y="56340"/>
                  </a:lnTo>
                  <a:lnTo>
                    <a:pt x="495245" y="64666"/>
                  </a:lnTo>
                  <a:lnTo>
                    <a:pt x="506350" y="76988"/>
                  </a:lnTo>
                  <a:lnTo>
                    <a:pt x="510429" y="92034"/>
                  </a:lnTo>
                  <a:lnTo>
                    <a:pt x="510429" y="343922"/>
                  </a:lnTo>
                  <a:close/>
                </a:path>
                <a:path w="581660" h="436245">
                  <a:moveTo>
                    <a:pt x="0" y="87190"/>
                  </a:moveTo>
                  <a:lnTo>
                    <a:pt x="71071" y="87190"/>
                  </a:lnTo>
                </a:path>
                <a:path w="581660" h="436245">
                  <a:moveTo>
                    <a:pt x="71071" y="174382"/>
                  </a:moveTo>
                  <a:lnTo>
                    <a:pt x="0" y="174382"/>
                  </a:lnTo>
                </a:path>
                <a:path w="581660" h="436245">
                  <a:moveTo>
                    <a:pt x="71071" y="261574"/>
                  </a:moveTo>
                  <a:lnTo>
                    <a:pt x="0" y="261574"/>
                  </a:lnTo>
                </a:path>
                <a:path w="581660" h="436245">
                  <a:moveTo>
                    <a:pt x="510429" y="174382"/>
                  </a:moveTo>
                  <a:lnTo>
                    <a:pt x="581501" y="174382"/>
                  </a:lnTo>
                </a:path>
                <a:path w="581660" h="436245">
                  <a:moveTo>
                    <a:pt x="510429" y="261574"/>
                  </a:moveTo>
                  <a:lnTo>
                    <a:pt x="581501" y="261574"/>
                  </a:lnTo>
                </a:path>
                <a:path w="581660" h="436245">
                  <a:moveTo>
                    <a:pt x="71071" y="348766"/>
                  </a:moveTo>
                  <a:lnTo>
                    <a:pt x="0" y="348766"/>
                  </a:lnTo>
                </a:path>
                <a:path w="581660" h="436245">
                  <a:moveTo>
                    <a:pt x="581501" y="87190"/>
                  </a:moveTo>
                  <a:lnTo>
                    <a:pt x="510429" y="87190"/>
                  </a:lnTo>
                </a:path>
                <a:path w="581660" h="436245">
                  <a:moveTo>
                    <a:pt x="581501" y="348766"/>
                  </a:moveTo>
                  <a:lnTo>
                    <a:pt x="510429" y="348766"/>
                  </a:lnTo>
                </a:path>
                <a:path w="581660" h="436245">
                  <a:moveTo>
                    <a:pt x="463906" y="435957"/>
                  </a:moveTo>
                  <a:lnTo>
                    <a:pt x="463906" y="382674"/>
                  </a:lnTo>
                </a:path>
                <a:path w="581660" h="436245">
                  <a:moveTo>
                    <a:pt x="348468" y="382674"/>
                  </a:moveTo>
                  <a:lnTo>
                    <a:pt x="348468" y="435957"/>
                  </a:lnTo>
                </a:path>
                <a:path w="581660" h="436245">
                  <a:moveTo>
                    <a:pt x="233030" y="435957"/>
                  </a:moveTo>
                  <a:lnTo>
                    <a:pt x="233030" y="382674"/>
                  </a:lnTo>
                </a:path>
                <a:path w="581660" h="436245">
                  <a:moveTo>
                    <a:pt x="348468" y="53282"/>
                  </a:moveTo>
                  <a:lnTo>
                    <a:pt x="348468" y="0"/>
                  </a:lnTo>
                </a:path>
                <a:path w="581660" h="436245">
                  <a:moveTo>
                    <a:pt x="233030" y="53282"/>
                  </a:moveTo>
                  <a:lnTo>
                    <a:pt x="233030" y="0"/>
                  </a:lnTo>
                </a:path>
                <a:path w="581660" h="436245">
                  <a:moveTo>
                    <a:pt x="117592" y="382674"/>
                  </a:moveTo>
                  <a:lnTo>
                    <a:pt x="117592" y="435957"/>
                  </a:lnTo>
                </a:path>
                <a:path w="581660" h="436245">
                  <a:moveTo>
                    <a:pt x="463906" y="0"/>
                  </a:moveTo>
                  <a:lnTo>
                    <a:pt x="463906" y="53282"/>
                  </a:lnTo>
                </a:path>
                <a:path w="581660" h="436245">
                  <a:moveTo>
                    <a:pt x="117592" y="0"/>
                  </a:moveTo>
                  <a:lnTo>
                    <a:pt x="117592" y="53282"/>
                  </a:lnTo>
                </a:path>
              </a:pathLst>
            </a:custGeom>
            <a:ln w="14287">
              <a:solidFill>
                <a:srgbClr val="92B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688387" y="1864867"/>
            <a:ext cx="2339340" cy="304419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44450" marR="5080" indent="-21590">
              <a:lnSpc>
                <a:spcPct val="96500"/>
              </a:lnSpc>
              <a:spcBef>
                <a:spcPts val="175"/>
              </a:spcBef>
            </a:pPr>
            <a:r>
              <a:rPr sz="1800" b="1" dirty="0">
                <a:solidFill>
                  <a:srgbClr val="1EABDA"/>
                </a:solidFill>
                <a:latin typeface="Calibri"/>
                <a:cs typeface="Calibri"/>
              </a:rPr>
              <a:t>Data</a:t>
            </a:r>
            <a:r>
              <a:rPr sz="1800" b="1" spc="-70" dirty="0">
                <a:solidFill>
                  <a:srgbClr val="1EABDA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EABDA"/>
                </a:solidFill>
                <a:latin typeface="Calibri"/>
                <a:cs typeface="Calibri"/>
              </a:rPr>
              <a:t>Modification </a:t>
            </a:r>
            <a:r>
              <a:rPr sz="1600" dirty="0">
                <a:solidFill>
                  <a:srgbClr val="484848"/>
                </a:solidFill>
                <a:latin typeface="Calibri"/>
                <a:cs typeface="Calibri"/>
              </a:rPr>
              <a:t>Random</a:t>
            </a:r>
            <a:r>
              <a:rPr sz="1600" spc="-4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84848"/>
                </a:solidFill>
                <a:latin typeface="Calibri"/>
                <a:cs typeface="Calibri"/>
              </a:rPr>
              <a:t>changes</a:t>
            </a:r>
            <a:r>
              <a:rPr sz="1600" spc="-4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84848"/>
                </a:solidFill>
                <a:latin typeface="Calibri"/>
                <a:cs typeface="Calibri"/>
              </a:rPr>
              <a:t>applied</a:t>
            </a:r>
            <a:r>
              <a:rPr sz="1600" spc="-4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484848"/>
                </a:solidFill>
                <a:latin typeface="Calibri"/>
                <a:cs typeface="Calibri"/>
              </a:rPr>
              <a:t>to </a:t>
            </a:r>
            <a:r>
              <a:rPr sz="1600" dirty="0">
                <a:solidFill>
                  <a:srgbClr val="484848"/>
                </a:solidFill>
                <a:latin typeface="Calibri"/>
                <a:cs typeface="Calibri"/>
              </a:rPr>
              <a:t>70%</a:t>
            </a:r>
            <a:r>
              <a:rPr sz="1600" spc="-1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84848"/>
                </a:solidFill>
                <a:latin typeface="Calibri"/>
                <a:cs typeface="Calibri"/>
              </a:rPr>
              <a:t>of</a:t>
            </a:r>
            <a:r>
              <a:rPr sz="1600" spc="-1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484848"/>
                </a:solidFill>
                <a:latin typeface="Calibri"/>
                <a:cs typeface="Calibri"/>
              </a:rPr>
              <a:t>data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970"/>
              </a:lnSpc>
              <a:spcBef>
                <a:spcPts val="830"/>
              </a:spcBef>
            </a:pPr>
            <a:r>
              <a:rPr sz="1800" b="1" dirty="0">
                <a:solidFill>
                  <a:srgbClr val="3CC583"/>
                </a:solidFill>
                <a:latin typeface="Calibri"/>
                <a:cs typeface="Calibri"/>
              </a:rPr>
              <a:t>Model</a:t>
            </a:r>
            <a:r>
              <a:rPr sz="1800" b="1" spc="-20" dirty="0">
                <a:solidFill>
                  <a:srgbClr val="3CC583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3CC583"/>
                </a:solidFill>
                <a:latin typeface="Calibri"/>
                <a:cs typeface="Calibri"/>
              </a:rPr>
              <a:t>Input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720"/>
              </a:lnSpc>
            </a:pPr>
            <a:r>
              <a:rPr sz="1600" dirty="0">
                <a:solidFill>
                  <a:srgbClr val="484848"/>
                </a:solidFill>
                <a:latin typeface="Calibri"/>
                <a:cs typeface="Calibri"/>
              </a:rPr>
              <a:t>Modified</a:t>
            </a:r>
            <a:r>
              <a:rPr sz="1600" spc="-5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84848"/>
                </a:solidFill>
                <a:latin typeface="Calibri"/>
                <a:cs typeface="Calibri"/>
              </a:rPr>
              <a:t>data</a:t>
            </a:r>
            <a:r>
              <a:rPr sz="1600" spc="-6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84848"/>
                </a:solidFill>
                <a:latin typeface="Calibri"/>
                <a:cs typeface="Calibri"/>
              </a:rPr>
              <a:t>fed</a:t>
            </a:r>
            <a:r>
              <a:rPr sz="1600" spc="-5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84848"/>
                </a:solidFill>
                <a:latin typeface="Calibri"/>
                <a:cs typeface="Calibri"/>
              </a:rPr>
              <a:t>into</a:t>
            </a:r>
            <a:r>
              <a:rPr sz="1600" spc="-4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484848"/>
                </a:solidFill>
                <a:latin typeface="Calibri"/>
                <a:cs typeface="Calibri"/>
              </a:rPr>
              <a:t>the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910"/>
              </a:lnSpc>
            </a:pPr>
            <a:r>
              <a:rPr sz="1600" spc="-10" dirty="0">
                <a:solidFill>
                  <a:srgbClr val="484848"/>
                </a:solidFill>
                <a:latin typeface="Calibri"/>
                <a:cs typeface="Calibri"/>
              </a:rPr>
              <a:t>model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970"/>
              </a:lnSpc>
              <a:spcBef>
                <a:spcPts val="475"/>
              </a:spcBef>
            </a:pPr>
            <a:r>
              <a:rPr sz="1800" b="1" dirty="0">
                <a:solidFill>
                  <a:srgbClr val="92BD39"/>
                </a:solidFill>
                <a:latin typeface="Calibri"/>
                <a:cs typeface="Calibri"/>
              </a:rPr>
              <a:t>Model</a:t>
            </a:r>
            <a:r>
              <a:rPr sz="1800" b="1" spc="-20" dirty="0">
                <a:solidFill>
                  <a:srgbClr val="92BD39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92BD39"/>
                </a:solidFill>
                <a:latin typeface="Calibri"/>
                <a:cs typeface="Calibri"/>
              </a:rPr>
              <a:t>Run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720"/>
              </a:lnSpc>
            </a:pPr>
            <a:r>
              <a:rPr sz="1600" dirty="0">
                <a:solidFill>
                  <a:srgbClr val="484848"/>
                </a:solidFill>
                <a:latin typeface="Calibri"/>
                <a:cs typeface="Calibri"/>
              </a:rPr>
              <a:t>Model</a:t>
            </a:r>
            <a:r>
              <a:rPr sz="1600" spc="-5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84848"/>
                </a:solidFill>
                <a:latin typeface="Calibri"/>
                <a:cs typeface="Calibri"/>
              </a:rPr>
              <a:t>processes</a:t>
            </a:r>
            <a:r>
              <a:rPr sz="1600" spc="-4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84848"/>
                </a:solidFill>
                <a:latin typeface="Calibri"/>
                <a:cs typeface="Calibri"/>
              </a:rPr>
              <a:t>the</a:t>
            </a:r>
            <a:r>
              <a:rPr sz="1600" spc="-4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484848"/>
                </a:solidFill>
                <a:latin typeface="Calibri"/>
                <a:cs typeface="Calibri"/>
              </a:rPr>
              <a:t>input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810"/>
              </a:lnSpc>
            </a:pPr>
            <a:r>
              <a:rPr sz="1600" spc="-20" dirty="0">
                <a:solidFill>
                  <a:srgbClr val="484848"/>
                </a:solidFill>
                <a:latin typeface="Calibri"/>
                <a:cs typeface="Calibri"/>
              </a:rPr>
              <a:t>data</a:t>
            </a:r>
            <a:endParaRPr sz="1600">
              <a:latin typeface="Calibri"/>
              <a:cs typeface="Calibri"/>
            </a:endParaRPr>
          </a:p>
          <a:p>
            <a:pPr marL="12700" marR="293370">
              <a:lnSpc>
                <a:spcPct val="89700"/>
              </a:lnSpc>
              <a:spcBef>
                <a:spcPts val="120"/>
              </a:spcBef>
            </a:pPr>
            <a:r>
              <a:rPr sz="1800" b="1" dirty="0">
                <a:solidFill>
                  <a:srgbClr val="E0CB15"/>
                </a:solidFill>
                <a:latin typeface="Calibri"/>
                <a:cs typeface="Calibri"/>
              </a:rPr>
              <a:t>Output</a:t>
            </a:r>
            <a:r>
              <a:rPr sz="1800" b="1" spc="-15" dirty="0">
                <a:solidFill>
                  <a:srgbClr val="E0CB15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E0CB15"/>
                </a:solidFill>
                <a:latin typeface="Calibri"/>
                <a:cs typeface="Calibri"/>
              </a:rPr>
              <a:t>Comparison </a:t>
            </a:r>
            <a:r>
              <a:rPr sz="1600" dirty="0">
                <a:solidFill>
                  <a:srgbClr val="484848"/>
                </a:solidFill>
                <a:latin typeface="Calibri"/>
                <a:cs typeface="Calibri"/>
              </a:rPr>
              <a:t>Model</a:t>
            </a:r>
            <a:r>
              <a:rPr sz="1600" spc="-4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84848"/>
                </a:solidFill>
                <a:latin typeface="Calibri"/>
                <a:cs typeface="Calibri"/>
              </a:rPr>
              <a:t>output</a:t>
            </a:r>
            <a:r>
              <a:rPr sz="1600" spc="-3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84848"/>
                </a:solidFill>
                <a:latin typeface="Calibri"/>
                <a:cs typeface="Calibri"/>
              </a:rPr>
              <a:t>compared </a:t>
            </a:r>
            <a:r>
              <a:rPr sz="1600" dirty="0">
                <a:solidFill>
                  <a:srgbClr val="484848"/>
                </a:solidFill>
                <a:latin typeface="Calibri"/>
                <a:cs typeface="Calibri"/>
              </a:rPr>
              <a:t>with</a:t>
            </a:r>
            <a:r>
              <a:rPr sz="1600" spc="-4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84848"/>
                </a:solidFill>
                <a:latin typeface="Calibri"/>
                <a:cs typeface="Calibri"/>
              </a:rPr>
              <a:t>benchmark</a:t>
            </a:r>
            <a:r>
              <a:rPr sz="1600" spc="-3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84848"/>
                </a:solidFill>
                <a:latin typeface="Calibri"/>
                <a:cs typeface="Calibri"/>
              </a:rPr>
              <a:t>labels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28" name="object 28"/>
          <p:cNvSpPr txBox="1"/>
          <p:nvPr/>
        </p:nvSpPr>
        <p:spPr>
          <a:xfrm>
            <a:off x="4674291" y="4922011"/>
            <a:ext cx="1536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84848"/>
                </a:solidFill>
                <a:latin typeface="Calibri"/>
                <a:cs typeface="Calibri"/>
              </a:rPr>
              <a:t>Model</a:t>
            </a:r>
            <a:r>
              <a:rPr sz="1800" b="1" spc="-2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84848"/>
                </a:solidFill>
                <a:latin typeface="Calibri"/>
                <a:cs typeface="Calibri"/>
              </a:rPr>
              <a:t>Accuracy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4893238" y="1276603"/>
            <a:ext cx="1097280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84150" marR="5080" indent="-172085">
              <a:lnSpc>
                <a:spcPts val="2090"/>
              </a:lnSpc>
              <a:spcBef>
                <a:spcPts val="225"/>
              </a:spcBef>
            </a:pPr>
            <a:r>
              <a:rPr sz="1800" spc="-10" dirty="0">
                <a:solidFill>
                  <a:srgbClr val="484848"/>
                </a:solidFill>
                <a:latin typeface="Calibri"/>
                <a:cs typeface="Calibri"/>
              </a:rPr>
              <a:t>Benchmark Dataset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9821" y="2237739"/>
            <a:ext cx="2548890" cy="1293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8600"/>
              </a:lnSpc>
              <a:spcBef>
                <a:spcPts val="100"/>
              </a:spcBef>
            </a:pPr>
            <a:r>
              <a:rPr sz="2800" b="0" spc="420" dirty="0">
                <a:latin typeface="Verdana"/>
                <a:cs typeface="Verdana"/>
              </a:rPr>
              <a:t>Benchmark </a:t>
            </a:r>
            <a:r>
              <a:rPr sz="2800" b="0" spc="475" dirty="0">
                <a:latin typeface="Verdana"/>
                <a:cs typeface="Verdana"/>
              </a:rPr>
              <a:t>Dataset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0214" y="1253331"/>
            <a:ext cx="8037418" cy="387046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9821" y="2237739"/>
            <a:ext cx="2548890" cy="194310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50400"/>
              </a:lnSpc>
              <a:spcBef>
                <a:spcPts val="35"/>
              </a:spcBef>
            </a:pPr>
            <a:r>
              <a:rPr sz="2800" b="0" spc="425" dirty="0">
                <a:latin typeface="Verdana"/>
                <a:cs typeface="Verdana"/>
              </a:rPr>
              <a:t>Modified </a:t>
            </a:r>
            <a:r>
              <a:rPr sz="2800" b="0" spc="420" dirty="0">
                <a:latin typeface="Verdana"/>
                <a:cs typeface="Verdana"/>
              </a:rPr>
              <a:t>Benchmark </a:t>
            </a:r>
            <a:r>
              <a:rPr sz="2800" b="0" spc="475" dirty="0">
                <a:latin typeface="Verdana"/>
                <a:cs typeface="Verdana"/>
              </a:rPr>
              <a:t>Dataset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8550" y="1128795"/>
            <a:ext cx="8031172" cy="435133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2166" y="2728468"/>
            <a:ext cx="2155825" cy="1293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8600"/>
              </a:lnSpc>
              <a:spcBef>
                <a:spcPts val="100"/>
              </a:spcBef>
            </a:pPr>
            <a:r>
              <a:rPr sz="2800" b="0" spc="495" dirty="0">
                <a:latin typeface="Verdana"/>
                <a:cs typeface="Verdana"/>
              </a:rPr>
              <a:t>Accuracy </a:t>
            </a:r>
            <a:r>
              <a:rPr sz="2800" b="0" spc="385" dirty="0">
                <a:latin typeface="Verdana"/>
                <a:cs typeface="Verdana"/>
              </a:rPr>
              <a:t>Function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6338" y="2300259"/>
            <a:ext cx="7097854" cy="200664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728468"/>
            <a:ext cx="1412240" cy="1293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8600"/>
              </a:lnSpc>
              <a:spcBef>
                <a:spcPts val="100"/>
              </a:spcBef>
            </a:pPr>
            <a:r>
              <a:rPr sz="2800" b="0" spc="290" dirty="0">
                <a:latin typeface="Verdana"/>
                <a:cs typeface="Verdana"/>
              </a:rPr>
              <a:t>Final </a:t>
            </a:r>
            <a:r>
              <a:rPr sz="2800" b="0" spc="345" dirty="0">
                <a:latin typeface="Verdana"/>
                <a:cs typeface="Verdana"/>
              </a:rPr>
              <a:t>Result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5255" y="1008680"/>
            <a:ext cx="6691699" cy="484063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32082" y="3202940"/>
            <a:ext cx="17278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Courier New"/>
                <a:cs typeface="Courier New"/>
              </a:rPr>
              <a:t>Thanks</a:t>
            </a:r>
            <a:r>
              <a:rPr sz="2800" b="0" spc="-65" dirty="0">
                <a:latin typeface="Courier New"/>
                <a:cs typeface="Courier New"/>
              </a:rPr>
              <a:t> </a:t>
            </a:r>
            <a:r>
              <a:rPr sz="2800" b="0" spc="-50" dirty="0">
                <a:latin typeface="Courier New"/>
                <a:cs typeface="Courier New"/>
              </a:rPr>
              <a:t>!</a:t>
            </a:r>
            <a:endParaRPr sz="28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461</Words>
  <Application>Microsoft Office PowerPoint</Application>
  <PresentationFormat>Widescreen</PresentationFormat>
  <Paragraphs>111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 MT</vt:lpstr>
      <vt:lpstr>Calibri</vt:lpstr>
      <vt:lpstr>Courier New</vt:lpstr>
      <vt:lpstr>Verdana</vt:lpstr>
      <vt:lpstr>Office Theme</vt:lpstr>
      <vt:lpstr>Enhance Dataset labeling Model</vt:lpstr>
      <vt:lpstr>Research Journey</vt:lpstr>
      <vt:lpstr>Research Journey</vt:lpstr>
      <vt:lpstr>Research Journey</vt:lpstr>
      <vt:lpstr>Research Journey</vt:lpstr>
      <vt:lpstr>Research Journey</vt:lpstr>
      <vt:lpstr>Research Journey</vt:lpstr>
      <vt:lpstr>Research Journey</vt:lpstr>
      <vt:lpstr>Research Journey</vt:lpstr>
      <vt:lpstr>Research Journey</vt:lpstr>
      <vt:lpstr>Research Journey</vt:lpstr>
      <vt:lpstr>Research Journey</vt:lpstr>
      <vt:lpstr>Research Journey</vt:lpstr>
      <vt:lpstr>Human-in-the-Loop</vt:lpstr>
      <vt:lpstr>Research Journey</vt:lpstr>
      <vt:lpstr>Research Journey</vt:lpstr>
      <vt:lpstr>PowerPoint Presentation</vt:lpstr>
      <vt:lpstr>ITL GUI</vt:lpstr>
      <vt:lpstr>Final Output</vt:lpstr>
      <vt:lpstr>Benchmark Dataset</vt:lpstr>
      <vt:lpstr>Benchmark Dataset</vt:lpstr>
      <vt:lpstr>Modified Benchmark Dataset</vt:lpstr>
      <vt:lpstr>Accuracy Function</vt:lpstr>
      <vt:lpstr>Final Result</vt:lpstr>
      <vt:lpstr>Thanks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OMAR ZKRIA ELBANA</cp:lastModifiedBy>
  <cp:revision>2</cp:revision>
  <dcterms:created xsi:type="dcterms:W3CDTF">2025-06-29T19:43:04Z</dcterms:created>
  <dcterms:modified xsi:type="dcterms:W3CDTF">2025-06-29T19:50:32Z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2025-06-14T00:00:00Z</vt:filetime>
  </property>
  <property fmtid="{D5CDD505-2E9C-101B-9397-08002B2CF9AE}" pid="3" name="LastSaved">
    <vt:filetime>2025-06-29T00:00:00Z</vt:filetime>
  </property>
  <property fmtid="{D5CDD505-2E9C-101B-9397-08002B2CF9AE}" pid="4" name="Producer">
    <vt:lpwstr>macOS Version 14.3.1 (Build 23D60) Quartz PDFContext</vt:lpwstr>
  </property>
</Properties>
</file>